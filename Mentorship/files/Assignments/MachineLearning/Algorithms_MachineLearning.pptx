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sldIdLst>
    <p:sldId id="388" r:id="rId5"/>
    <p:sldId id="749" r:id="rId6"/>
    <p:sldId id="750" r:id="rId7"/>
    <p:sldId id="723" r:id="rId8"/>
    <p:sldId id="724" r:id="rId9"/>
    <p:sldId id="727" r:id="rId10"/>
    <p:sldId id="729" r:id="rId11"/>
    <p:sldId id="752" r:id="rId12"/>
    <p:sldId id="753" r:id="rId13"/>
    <p:sldId id="754" r:id="rId14"/>
    <p:sldId id="751" r:id="rId15"/>
    <p:sldId id="758" r:id="rId16"/>
    <p:sldId id="747" r:id="rId17"/>
    <p:sldId id="759" r:id="rId18"/>
    <p:sldId id="748" r:id="rId19"/>
    <p:sldId id="760" r:id="rId20"/>
    <p:sldId id="761" r:id="rId21"/>
    <p:sldId id="762" r:id="rId22"/>
    <p:sldId id="763" r:id="rId23"/>
    <p:sldId id="764" r:id="rId24"/>
    <p:sldId id="41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B92F"/>
    <a:srgbClr val="7B1142"/>
    <a:srgbClr val="6C1A4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0783" autoAdjust="0"/>
    <p:restoredTop sz="79779" autoAdjust="0"/>
  </p:normalViewPr>
  <p:slideViewPr>
    <p:cSldViewPr snapToGrid="0" snapToObjects="1">
      <p:cViewPr varScale="1">
        <p:scale>
          <a:sx n="71" d="100"/>
          <a:sy n="71" d="100"/>
        </p:scale>
        <p:origin x="184" y="48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90" d="100"/>
          <a:sy n="90" d="100"/>
        </p:scale>
        <p:origin x="3960"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7239CD-11F9-4918-9CB8-A7B7EF286230}" type="datetimeFigureOut">
              <a:rPr lang="en-US" smtClean="0"/>
              <a:t>7/2/25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BA6B9A-231B-4557-80D9-4035CB160C23}" type="slidenum">
              <a:rPr lang="en-US" smtClean="0"/>
              <a:t>‹#›</a:t>
            </a:fld>
            <a:endParaRPr lang="en-US"/>
          </a:p>
        </p:txBody>
      </p:sp>
    </p:spTree>
    <p:extLst>
      <p:ext uri="{BB962C8B-B14F-4D97-AF65-F5344CB8AC3E}">
        <p14:creationId xmlns:p14="http://schemas.microsoft.com/office/powerpoint/2010/main" val="1960761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4F87AF0-3F8B-47FC-A4A5-B1CBDA9978AD}" type="slidenum">
              <a:rPr lang="en-US" smtClean="0"/>
              <a:t>1</a:t>
            </a:fld>
            <a:endParaRPr lang="en-US"/>
          </a:p>
        </p:txBody>
      </p:sp>
    </p:spTree>
    <p:extLst>
      <p:ext uri="{BB962C8B-B14F-4D97-AF65-F5344CB8AC3E}">
        <p14:creationId xmlns:p14="http://schemas.microsoft.com/office/powerpoint/2010/main" val="2961055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CF635-825B-F845-11B1-BD6974056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B4197-7D85-C212-2440-0D98119FD0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01F4B-864A-75D5-9187-95E8444197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C3E0AA-E0FB-BC12-739D-563A48134804}"/>
              </a:ext>
            </a:extLst>
          </p:cNvPr>
          <p:cNvSpPr>
            <a:spLocks noGrp="1"/>
          </p:cNvSpPr>
          <p:nvPr>
            <p:ph type="sldNum" sz="quarter" idx="5"/>
          </p:nvPr>
        </p:nvSpPr>
        <p:spPr/>
        <p:txBody>
          <a:bodyPr/>
          <a:lstStyle/>
          <a:p>
            <a:fld id="{70BA6B9A-231B-4557-80D9-4035CB160C23}" type="slidenum">
              <a:rPr lang="en-US" smtClean="0"/>
              <a:t>21</a:t>
            </a:fld>
            <a:endParaRPr lang="en-US"/>
          </a:p>
        </p:txBody>
      </p:sp>
    </p:spTree>
    <p:extLst>
      <p:ext uri="{BB962C8B-B14F-4D97-AF65-F5344CB8AC3E}">
        <p14:creationId xmlns:p14="http://schemas.microsoft.com/office/powerpoint/2010/main" val="14103750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97069-AFB8-414F-9B14-4BFE3603FB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AEC335-CB7B-E84D-814A-A900E733EE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C8E45A-C170-7348-8076-11B191BE3621}"/>
              </a:ext>
            </a:extLst>
          </p:cNvPr>
          <p:cNvSpPr>
            <a:spLocks noGrp="1"/>
          </p:cNvSpPr>
          <p:nvPr>
            <p:ph type="dt" sz="half" idx="10"/>
          </p:nvPr>
        </p:nvSpPr>
        <p:spPr/>
        <p:txBody>
          <a:bodyPr/>
          <a:lstStyle/>
          <a:p>
            <a:fld id="{004EBD3A-4CD1-5440-8997-2B213668CD8A}" type="datetimeFigureOut">
              <a:rPr lang="en-US" smtClean="0"/>
              <a:t>7/2/25</a:t>
            </a:fld>
            <a:endParaRPr lang="en-US"/>
          </a:p>
        </p:txBody>
      </p:sp>
      <p:sp>
        <p:nvSpPr>
          <p:cNvPr id="5" name="Footer Placeholder 4">
            <a:extLst>
              <a:ext uri="{FF2B5EF4-FFF2-40B4-BE49-F238E27FC236}">
                <a16:creationId xmlns:a16="http://schemas.microsoft.com/office/drawing/2014/main" id="{4BC44B1B-CF2D-184E-9B16-96D8DEA3B3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7E8D7E-3F80-A849-874A-3344B2B613B6}"/>
              </a:ext>
            </a:extLst>
          </p:cNvPr>
          <p:cNvSpPr>
            <a:spLocks noGrp="1"/>
          </p:cNvSpPr>
          <p:nvPr>
            <p:ph type="sldNum" sz="quarter" idx="12"/>
          </p:nvPr>
        </p:nvSpPr>
        <p:spPr/>
        <p:txBody>
          <a:bodyPr/>
          <a:lstStyle/>
          <a:p>
            <a:fld id="{DAF0FC8E-D3C0-0D4C-8608-74EBA918F088}" type="slidenum">
              <a:rPr lang="en-US" smtClean="0"/>
              <a:t>‹#›</a:t>
            </a:fld>
            <a:endParaRPr lang="en-US"/>
          </a:p>
        </p:txBody>
      </p:sp>
      <p:pic>
        <p:nvPicPr>
          <p:cNvPr id="7" name="Picture 6">
            <a:extLst>
              <a:ext uri="{FF2B5EF4-FFF2-40B4-BE49-F238E27FC236}">
                <a16:creationId xmlns:a16="http://schemas.microsoft.com/office/drawing/2014/main" id="{2C48E7AB-7CB9-5644-4FCE-43440B6F75CC}"/>
              </a:ext>
            </a:extLst>
          </p:cNvPr>
          <p:cNvPicPr>
            <a:picLocks noChangeAspect="1"/>
          </p:cNvPicPr>
          <p:nvPr userDrawn="1"/>
        </p:nvPicPr>
        <p:blipFill>
          <a:blip r:embed="rId2"/>
          <a:stretch>
            <a:fillRect/>
          </a:stretch>
        </p:blipFill>
        <p:spPr>
          <a:xfrm>
            <a:off x="0" y="6400686"/>
            <a:ext cx="12192000" cy="457314"/>
          </a:xfrm>
          <a:prstGeom prst="rect">
            <a:avLst/>
          </a:prstGeom>
        </p:spPr>
      </p:pic>
      <p:pic>
        <p:nvPicPr>
          <p:cNvPr id="8" name="Picture 7">
            <a:extLst>
              <a:ext uri="{FF2B5EF4-FFF2-40B4-BE49-F238E27FC236}">
                <a16:creationId xmlns:a16="http://schemas.microsoft.com/office/drawing/2014/main" id="{C4998472-5642-4F57-CE84-E324E2676890}"/>
              </a:ext>
            </a:extLst>
          </p:cNvPr>
          <p:cNvPicPr>
            <a:picLocks noChangeAspect="1"/>
          </p:cNvPicPr>
          <p:nvPr userDrawn="1"/>
        </p:nvPicPr>
        <p:blipFill>
          <a:blip r:embed="rId3"/>
          <a:stretch>
            <a:fillRect/>
          </a:stretch>
        </p:blipFill>
        <p:spPr>
          <a:xfrm>
            <a:off x="11156735" y="5837375"/>
            <a:ext cx="892835" cy="892835"/>
          </a:xfrm>
          <a:prstGeom prst="rect">
            <a:avLst/>
          </a:prstGeom>
        </p:spPr>
      </p:pic>
    </p:spTree>
    <p:extLst>
      <p:ext uri="{BB962C8B-B14F-4D97-AF65-F5344CB8AC3E}">
        <p14:creationId xmlns:p14="http://schemas.microsoft.com/office/powerpoint/2010/main" val="2406470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D1D1B-3DFB-7B44-B904-AFD5803589E2}"/>
              </a:ext>
            </a:extLst>
          </p:cNvPr>
          <p:cNvSpPr>
            <a:spLocks noGrp="1"/>
          </p:cNvSpPr>
          <p:nvPr>
            <p:ph type="title"/>
          </p:nvPr>
        </p:nvSpPr>
        <p:spPr>
          <a:xfrm>
            <a:off x="838200" y="136525"/>
            <a:ext cx="10515600" cy="846241"/>
          </a:xfrm>
          <a:solidFill>
            <a:srgbClr val="7B1142"/>
          </a:solidFill>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0AD490B-83A2-D848-BC71-3AE72FE762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75378C-A980-3045-BB1A-2A02640C9618}"/>
              </a:ext>
            </a:extLst>
          </p:cNvPr>
          <p:cNvSpPr>
            <a:spLocks noGrp="1"/>
          </p:cNvSpPr>
          <p:nvPr>
            <p:ph type="dt" sz="half" idx="10"/>
          </p:nvPr>
        </p:nvSpPr>
        <p:spPr/>
        <p:txBody>
          <a:bodyPr/>
          <a:lstStyle/>
          <a:p>
            <a:fld id="{004EBD3A-4CD1-5440-8997-2B213668CD8A}" type="datetimeFigureOut">
              <a:rPr lang="en-US" smtClean="0"/>
              <a:t>7/2/25</a:t>
            </a:fld>
            <a:endParaRPr lang="en-US"/>
          </a:p>
        </p:txBody>
      </p:sp>
      <p:sp>
        <p:nvSpPr>
          <p:cNvPr id="5" name="Footer Placeholder 4">
            <a:extLst>
              <a:ext uri="{FF2B5EF4-FFF2-40B4-BE49-F238E27FC236}">
                <a16:creationId xmlns:a16="http://schemas.microsoft.com/office/drawing/2014/main" id="{1CC325E8-453C-D549-AD9F-273BBB10B7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9151C-3B30-574E-BE20-7157C326FF34}"/>
              </a:ext>
            </a:extLst>
          </p:cNvPr>
          <p:cNvSpPr>
            <a:spLocks noGrp="1"/>
          </p:cNvSpPr>
          <p:nvPr>
            <p:ph type="sldNum" sz="quarter" idx="12"/>
          </p:nvPr>
        </p:nvSpPr>
        <p:spPr/>
        <p:txBody>
          <a:bodyPr/>
          <a:lstStyle/>
          <a:p>
            <a:fld id="{DAF0FC8E-D3C0-0D4C-8608-74EBA918F088}" type="slidenum">
              <a:rPr lang="en-US" smtClean="0"/>
              <a:t>‹#›</a:t>
            </a:fld>
            <a:endParaRPr lang="en-US"/>
          </a:p>
        </p:txBody>
      </p:sp>
      <p:pic>
        <p:nvPicPr>
          <p:cNvPr id="7" name="Picture 6">
            <a:extLst>
              <a:ext uri="{FF2B5EF4-FFF2-40B4-BE49-F238E27FC236}">
                <a16:creationId xmlns:a16="http://schemas.microsoft.com/office/drawing/2014/main" id="{56EEC0F3-C7C0-33C5-2356-79BD0766B180}"/>
              </a:ext>
            </a:extLst>
          </p:cNvPr>
          <p:cNvPicPr>
            <a:picLocks noChangeAspect="1"/>
          </p:cNvPicPr>
          <p:nvPr userDrawn="1"/>
        </p:nvPicPr>
        <p:blipFill>
          <a:blip r:embed="rId2"/>
          <a:stretch>
            <a:fillRect/>
          </a:stretch>
        </p:blipFill>
        <p:spPr>
          <a:xfrm>
            <a:off x="0" y="6400686"/>
            <a:ext cx="12192000" cy="457314"/>
          </a:xfrm>
          <a:prstGeom prst="rect">
            <a:avLst/>
          </a:prstGeom>
        </p:spPr>
      </p:pic>
      <p:pic>
        <p:nvPicPr>
          <p:cNvPr id="8" name="Picture 7">
            <a:extLst>
              <a:ext uri="{FF2B5EF4-FFF2-40B4-BE49-F238E27FC236}">
                <a16:creationId xmlns:a16="http://schemas.microsoft.com/office/drawing/2014/main" id="{FF517087-EDDE-A63E-87F3-76553A317634}"/>
              </a:ext>
            </a:extLst>
          </p:cNvPr>
          <p:cNvPicPr>
            <a:picLocks noChangeAspect="1"/>
          </p:cNvPicPr>
          <p:nvPr userDrawn="1"/>
        </p:nvPicPr>
        <p:blipFill>
          <a:blip r:embed="rId3"/>
          <a:stretch>
            <a:fillRect/>
          </a:stretch>
        </p:blipFill>
        <p:spPr>
          <a:xfrm>
            <a:off x="11156735" y="5837375"/>
            <a:ext cx="892835" cy="892835"/>
          </a:xfrm>
          <a:prstGeom prst="rect">
            <a:avLst/>
          </a:prstGeom>
        </p:spPr>
      </p:pic>
    </p:spTree>
    <p:extLst>
      <p:ext uri="{BB962C8B-B14F-4D97-AF65-F5344CB8AC3E}">
        <p14:creationId xmlns:p14="http://schemas.microsoft.com/office/powerpoint/2010/main" val="1442588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19AB8-EDA3-964E-981E-57301EC106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635D8F-41F0-5447-A96E-5BC7AF78C9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6A7154-BC1A-D147-A347-445AED8B41FE}"/>
              </a:ext>
            </a:extLst>
          </p:cNvPr>
          <p:cNvSpPr>
            <a:spLocks noGrp="1"/>
          </p:cNvSpPr>
          <p:nvPr>
            <p:ph type="dt" sz="half" idx="10"/>
          </p:nvPr>
        </p:nvSpPr>
        <p:spPr/>
        <p:txBody>
          <a:bodyPr/>
          <a:lstStyle/>
          <a:p>
            <a:fld id="{004EBD3A-4CD1-5440-8997-2B213668CD8A}" type="datetimeFigureOut">
              <a:rPr lang="en-US" smtClean="0"/>
              <a:t>7/2/25</a:t>
            </a:fld>
            <a:endParaRPr lang="en-US"/>
          </a:p>
        </p:txBody>
      </p:sp>
      <p:sp>
        <p:nvSpPr>
          <p:cNvPr id="5" name="Footer Placeholder 4">
            <a:extLst>
              <a:ext uri="{FF2B5EF4-FFF2-40B4-BE49-F238E27FC236}">
                <a16:creationId xmlns:a16="http://schemas.microsoft.com/office/drawing/2014/main" id="{0635C377-C72A-4447-8C8F-1AB75D17EE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02BCA3-A816-7742-8F19-9B2452BB062C}"/>
              </a:ext>
            </a:extLst>
          </p:cNvPr>
          <p:cNvSpPr>
            <a:spLocks noGrp="1"/>
          </p:cNvSpPr>
          <p:nvPr>
            <p:ph type="sldNum" sz="quarter" idx="12"/>
          </p:nvPr>
        </p:nvSpPr>
        <p:spPr/>
        <p:txBody>
          <a:bodyPr/>
          <a:lstStyle/>
          <a:p>
            <a:fld id="{DAF0FC8E-D3C0-0D4C-8608-74EBA918F088}" type="slidenum">
              <a:rPr lang="en-US" smtClean="0"/>
              <a:t>‹#›</a:t>
            </a:fld>
            <a:endParaRPr lang="en-US"/>
          </a:p>
        </p:txBody>
      </p:sp>
    </p:spTree>
    <p:extLst>
      <p:ext uri="{BB962C8B-B14F-4D97-AF65-F5344CB8AC3E}">
        <p14:creationId xmlns:p14="http://schemas.microsoft.com/office/powerpoint/2010/main" val="691428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E2004-4E40-6E4F-B646-3A02871745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EC6330-032F-7941-8E41-A7BEF844B5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41C29E-4B42-C247-BABC-7DFC1B65E0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DE1190-FD81-4146-B9A0-DDEC02B13E95}"/>
              </a:ext>
            </a:extLst>
          </p:cNvPr>
          <p:cNvSpPr>
            <a:spLocks noGrp="1"/>
          </p:cNvSpPr>
          <p:nvPr>
            <p:ph type="dt" sz="half" idx="10"/>
          </p:nvPr>
        </p:nvSpPr>
        <p:spPr/>
        <p:txBody>
          <a:bodyPr/>
          <a:lstStyle/>
          <a:p>
            <a:fld id="{004EBD3A-4CD1-5440-8997-2B213668CD8A}" type="datetimeFigureOut">
              <a:rPr lang="en-US" smtClean="0"/>
              <a:t>7/2/25</a:t>
            </a:fld>
            <a:endParaRPr lang="en-US"/>
          </a:p>
        </p:txBody>
      </p:sp>
      <p:sp>
        <p:nvSpPr>
          <p:cNvPr id="6" name="Footer Placeholder 5">
            <a:extLst>
              <a:ext uri="{FF2B5EF4-FFF2-40B4-BE49-F238E27FC236}">
                <a16:creationId xmlns:a16="http://schemas.microsoft.com/office/drawing/2014/main" id="{1FC8DF9E-D97B-6E4B-ACB5-13168C04FC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81F6EE-EAB4-FD47-B341-A3D515A85F56}"/>
              </a:ext>
            </a:extLst>
          </p:cNvPr>
          <p:cNvSpPr>
            <a:spLocks noGrp="1"/>
          </p:cNvSpPr>
          <p:nvPr>
            <p:ph type="sldNum" sz="quarter" idx="12"/>
          </p:nvPr>
        </p:nvSpPr>
        <p:spPr/>
        <p:txBody>
          <a:bodyPr/>
          <a:lstStyle/>
          <a:p>
            <a:fld id="{DAF0FC8E-D3C0-0D4C-8608-74EBA918F088}" type="slidenum">
              <a:rPr lang="en-US" smtClean="0"/>
              <a:t>‹#›</a:t>
            </a:fld>
            <a:endParaRPr lang="en-US"/>
          </a:p>
        </p:txBody>
      </p:sp>
    </p:spTree>
    <p:extLst>
      <p:ext uri="{BB962C8B-B14F-4D97-AF65-F5344CB8AC3E}">
        <p14:creationId xmlns:p14="http://schemas.microsoft.com/office/powerpoint/2010/main" val="3487204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7455C-045B-EF4E-B34E-A8720BCA66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6043A9-88B8-D949-8155-2DEC7E289A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D25713-ADFB-B548-879C-4A4D85B46A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E695CC-8B5B-9542-948D-5AFB8F7045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485DE2-EEC5-354C-B958-2FD18DCEE2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383700-1E03-3F41-8D96-62C19EA1409F}"/>
              </a:ext>
            </a:extLst>
          </p:cNvPr>
          <p:cNvSpPr>
            <a:spLocks noGrp="1"/>
          </p:cNvSpPr>
          <p:nvPr>
            <p:ph type="dt" sz="half" idx="10"/>
          </p:nvPr>
        </p:nvSpPr>
        <p:spPr/>
        <p:txBody>
          <a:bodyPr/>
          <a:lstStyle/>
          <a:p>
            <a:fld id="{004EBD3A-4CD1-5440-8997-2B213668CD8A}" type="datetimeFigureOut">
              <a:rPr lang="en-US" smtClean="0"/>
              <a:t>7/2/25</a:t>
            </a:fld>
            <a:endParaRPr lang="en-US"/>
          </a:p>
        </p:txBody>
      </p:sp>
      <p:sp>
        <p:nvSpPr>
          <p:cNvPr id="8" name="Footer Placeholder 7">
            <a:extLst>
              <a:ext uri="{FF2B5EF4-FFF2-40B4-BE49-F238E27FC236}">
                <a16:creationId xmlns:a16="http://schemas.microsoft.com/office/drawing/2014/main" id="{DEBED341-982E-5044-93AE-D0BB7D0ED7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1A8BDB-7529-6445-BB63-61BF480BF12B}"/>
              </a:ext>
            </a:extLst>
          </p:cNvPr>
          <p:cNvSpPr>
            <a:spLocks noGrp="1"/>
          </p:cNvSpPr>
          <p:nvPr>
            <p:ph type="sldNum" sz="quarter" idx="12"/>
          </p:nvPr>
        </p:nvSpPr>
        <p:spPr/>
        <p:txBody>
          <a:bodyPr/>
          <a:lstStyle/>
          <a:p>
            <a:fld id="{DAF0FC8E-D3C0-0D4C-8608-74EBA918F088}" type="slidenum">
              <a:rPr lang="en-US" smtClean="0"/>
              <a:t>‹#›</a:t>
            </a:fld>
            <a:endParaRPr lang="en-US"/>
          </a:p>
        </p:txBody>
      </p:sp>
    </p:spTree>
    <p:extLst>
      <p:ext uri="{BB962C8B-B14F-4D97-AF65-F5344CB8AC3E}">
        <p14:creationId xmlns:p14="http://schemas.microsoft.com/office/powerpoint/2010/main" val="1063609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BEFDA-66BE-FA4B-9B99-0C21D63D853E}"/>
              </a:ext>
            </a:extLst>
          </p:cNvPr>
          <p:cNvSpPr>
            <a:spLocks noGrp="1"/>
          </p:cNvSpPr>
          <p:nvPr>
            <p:ph type="title"/>
          </p:nvPr>
        </p:nvSpPr>
        <p:spPr>
          <a:xfrm>
            <a:off x="428001" y="245485"/>
            <a:ext cx="10515600" cy="668916"/>
          </a:xfrm>
          <a:solidFill>
            <a:srgbClr val="7B1142"/>
          </a:solidFill>
        </p:spPr>
        <p:txBody>
          <a:bodyPr/>
          <a:lstStyle>
            <a:lvl1pPr>
              <a:defRPr>
                <a:solidFill>
                  <a:schemeClr val="bg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A2A31A52-6C63-274F-91FB-DBAE26290614}"/>
              </a:ext>
            </a:extLst>
          </p:cNvPr>
          <p:cNvSpPr>
            <a:spLocks noGrp="1"/>
          </p:cNvSpPr>
          <p:nvPr>
            <p:ph type="dt" sz="half" idx="10"/>
          </p:nvPr>
        </p:nvSpPr>
        <p:spPr/>
        <p:txBody>
          <a:bodyPr/>
          <a:lstStyle/>
          <a:p>
            <a:fld id="{004EBD3A-4CD1-5440-8997-2B213668CD8A}" type="datetimeFigureOut">
              <a:rPr lang="en-US" smtClean="0"/>
              <a:t>7/2/25</a:t>
            </a:fld>
            <a:endParaRPr lang="en-US"/>
          </a:p>
        </p:txBody>
      </p:sp>
      <p:sp>
        <p:nvSpPr>
          <p:cNvPr id="4" name="Footer Placeholder 3">
            <a:extLst>
              <a:ext uri="{FF2B5EF4-FFF2-40B4-BE49-F238E27FC236}">
                <a16:creationId xmlns:a16="http://schemas.microsoft.com/office/drawing/2014/main" id="{93B27264-8F5E-EE44-A6CC-104CD8DE13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12D625-4B03-C742-86AF-79E59FF13747}"/>
              </a:ext>
            </a:extLst>
          </p:cNvPr>
          <p:cNvSpPr>
            <a:spLocks noGrp="1"/>
          </p:cNvSpPr>
          <p:nvPr>
            <p:ph type="sldNum" sz="quarter" idx="12"/>
          </p:nvPr>
        </p:nvSpPr>
        <p:spPr/>
        <p:txBody>
          <a:bodyPr/>
          <a:lstStyle/>
          <a:p>
            <a:fld id="{DAF0FC8E-D3C0-0D4C-8608-74EBA918F088}" type="slidenum">
              <a:rPr lang="en-US" smtClean="0"/>
              <a:t>‹#›</a:t>
            </a:fld>
            <a:endParaRPr lang="en-US"/>
          </a:p>
        </p:txBody>
      </p:sp>
      <p:sp>
        <p:nvSpPr>
          <p:cNvPr id="14" name="Date Placeholder 1">
            <a:extLst>
              <a:ext uri="{FF2B5EF4-FFF2-40B4-BE49-F238E27FC236}">
                <a16:creationId xmlns:a16="http://schemas.microsoft.com/office/drawing/2014/main" id="{316D619A-6C1C-6D63-3BAB-C7E2EFA2A638}"/>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04EBD3A-4CD1-5440-8997-2B213668CD8A}" type="datetimeFigureOut">
              <a:rPr lang="en-US" smtClean="0"/>
              <a:pPr/>
              <a:t>7/2/25</a:t>
            </a:fld>
            <a:endParaRPr lang="en-US"/>
          </a:p>
        </p:txBody>
      </p:sp>
      <p:sp>
        <p:nvSpPr>
          <p:cNvPr id="15" name="Slide Number Placeholder 3">
            <a:extLst>
              <a:ext uri="{FF2B5EF4-FFF2-40B4-BE49-F238E27FC236}">
                <a16:creationId xmlns:a16="http://schemas.microsoft.com/office/drawing/2014/main" id="{728E32C3-7260-0654-BB35-CB524E556697}"/>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F0FC8E-D3C0-0D4C-8608-74EBA918F088}" type="slidenum">
              <a:rPr lang="en-US" smtClean="0"/>
              <a:pPr/>
              <a:t>‹#›</a:t>
            </a:fld>
            <a:endParaRPr lang="en-US"/>
          </a:p>
        </p:txBody>
      </p:sp>
      <p:pic>
        <p:nvPicPr>
          <p:cNvPr id="16" name="Picture 15">
            <a:extLst>
              <a:ext uri="{FF2B5EF4-FFF2-40B4-BE49-F238E27FC236}">
                <a16:creationId xmlns:a16="http://schemas.microsoft.com/office/drawing/2014/main" id="{989E20E9-92A7-A6C1-05CC-4CD2E9B98C96}"/>
              </a:ext>
            </a:extLst>
          </p:cNvPr>
          <p:cNvPicPr>
            <a:picLocks noChangeAspect="1"/>
          </p:cNvPicPr>
          <p:nvPr userDrawn="1"/>
        </p:nvPicPr>
        <p:blipFill>
          <a:blip r:embed="rId2"/>
          <a:stretch>
            <a:fillRect/>
          </a:stretch>
        </p:blipFill>
        <p:spPr>
          <a:xfrm>
            <a:off x="0" y="6400686"/>
            <a:ext cx="12192000" cy="457314"/>
          </a:xfrm>
          <a:prstGeom prst="rect">
            <a:avLst/>
          </a:prstGeom>
        </p:spPr>
      </p:pic>
      <p:pic>
        <p:nvPicPr>
          <p:cNvPr id="17" name="Picture 16">
            <a:extLst>
              <a:ext uri="{FF2B5EF4-FFF2-40B4-BE49-F238E27FC236}">
                <a16:creationId xmlns:a16="http://schemas.microsoft.com/office/drawing/2014/main" id="{CB228AFB-CB05-E297-AB5C-FF1CA794A2BB}"/>
              </a:ext>
            </a:extLst>
          </p:cNvPr>
          <p:cNvPicPr>
            <a:picLocks noChangeAspect="1"/>
          </p:cNvPicPr>
          <p:nvPr userDrawn="1"/>
        </p:nvPicPr>
        <p:blipFill>
          <a:blip r:embed="rId3"/>
          <a:stretch>
            <a:fillRect/>
          </a:stretch>
        </p:blipFill>
        <p:spPr>
          <a:xfrm>
            <a:off x="11156735" y="5837375"/>
            <a:ext cx="892835" cy="892835"/>
          </a:xfrm>
          <a:prstGeom prst="rect">
            <a:avLst/>
          </a:prstGeom>
        </p:spPr>
      </p:pic>
    </p:spTree>
    <p:extLst>
      <p:ext uri="{BB962C8B-B14F-4D97-AF65-F5344CB8AC3E}">
        <p14:creationId xmlns:p14="http://schemas.microsoft.com/office/powerpoint/2010/main" val="592983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C394A4-0E0E-6547-B54D-74247518E6D8}"/>
              </a:ext>
            </a:extLst>
          </p:cNvPr>
          <p:cNvSpPr>
            <a:spLocks noGrp="1"/>
          </p:cNvSpPr>
          <p:nvPr>
            <p:ph type="dt" sz="half" idx="10"/>
          </p:nvPr>
        </p:nvSpPr>
        <p:spPr/>
        <p:txBody>
          <a:bodyPr/>
          <a:lstStyle/>
          <a:p>
            <a:fld id="{004EBD3A-4CD1-5440-8997-2B213668CD8A}" type="datetimeFigureOut">
              <a:rPr lang="en-US" smtClean="0"/>
              <a:t>7/2/25</a:t>
            </a:fld>
            <a:endParaRPr lang="en-US"/>
          </a:p>
        </p:txBody>
      </p:sp>
      <p:sp>
        <p:nvSpPr>
          <p:cNvPr id="3" name="Footer Placeholder 2">
            <a:extLst>
              <a:ext uri="{FF2B5EF4-FFF2-40B4-BE49-F238E27FC236}">
                <a16:creationId xmlns:a16="http://schemas.microsoft.com/office/drawing/2014/main" id="{8C9903A7-E38C-844D-B1B7-9C22710990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0F2581-B8BA-554D-965A-FEC9E05755C7}"/>
              </a:ext>
            </a:extLst>
          </p:cNvPr>
          <p:cNvSpPr>
            <a:spLocks noGrp="1"/>
          </p:cNvSpPr>
          <p:nvPr>
            <p:ph type="sldNum" sz="quarter" idx="12"/>
          </p:nvPr>
        </p:nvSpPr>
        <p:spPr/>
        <p:txBody>
          <a:bodyPr/>
          <a:lstStyle/>
          <a:p>
            <a:fld id="{DAF0FC8E-D3C0-0D4C-8608-74EBA918F088}" type="slidenum">
              <a:rPr lang="en-US" smtClean="0"/>
              <a:t>‹#›</a:t>
            </a:fld>
            <a:endParaRPr lang="en-US"/>
          </a:p>
        </p:txBody>
      </p:sp>
      <p:pic>
        <p:nvPicPr>
          <p:cNvPr id="5" name="Picture 4">
            <a:extLst>
              <a:ext uri="{FF2B5EF4-FFF2-40B4-BE49-F238E27FC236}">
                <a16:creationId xmlns:a16="http://schemas.microsoft.com/office/drawing/2014/main" id="{567FC5F0-0B70-A105-1CDA-EEB85464FC24}"/>
              </a:ext>
            </a:extLst>
          </p:cNvPr>
          <p:cNvPicPr>
            <a:picLocks noChangeAspect="1"/>
          </p:cNvPicPr>
          <p:nvPr userDrawn="1"/>
        </p:nvPicPr>
        <p:blipFill>
          <a:blip r:embed="rId2"/>
          <a:stretch>
            <a:fillRect/>
          </a:stretch>
        </p:blipFill>
        <p:spPr>
          <a:xfrm>
            <a:off x="0" y="6400686"/>
            <a:ext cx="12192000" cy="457314"/>
          </a:xfrm>
          <a:prstGeom prst="rect">
            <a:avLst/>
          </a:prstGeom>
        </p:spPr>
      </p:pic>
      <p:pic>
        <p:nvPicPr>
          <p:cNvPr id="6" name="Picture 5">
            <a:extLst>
              <a:ext uri="{FF2B5EF4-FFF2-40B4-BE49-F238E27FC236}">
                <a16:creationId xmlns:a16="http://schemas.microsoft.com/office/drawing/2014/main" id="{097EBA7E-606F-DF64-C0C1-516ECCF8D14A}"/>
              </a:ext>
            </a:extLst>
          </p:cNvPr>
          <p:cNvPicPr>
            <a:picLocks noChangeAspect="1"/>
          </p:cNvPicPr>
          <p:nvPr userDrawn="1"/>
        </p:nvPicPr>
        <p:blipFill>
          <a:blip r:embed="rId3"/>
          <a:stretch>
            <a:fillRect/>
          </a:stretch>
        </p:blipFill>
        <p:spPr>
          <a:xfrm>
            <a:off x="11156735" y="5837375"/>
            <a:ext cx="892835" cy="892835"/>
          </a:xfrm>
          <a:prstGeom prst="rect">
            <a:avLst/>
          </a:prstGeom>
        </p:spPr>
      </p:pic>
    </p:spTree>
    <p:extLst>
      <p:ext uri="{BB962C8B-B14F-4D97-AF65-F5344CB8AC3E}">
        <p14:creationId xmlns:p14="http://schemas.microsoft.com/office/powerpoint/2010/main" val="3508912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DD536-9F6B-9047-9363-77DCD95CD0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B1FD82F-14E6-454F-8C32-41F9FC05E9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30EC4F-48A0-244D-B2A6-50DB916858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53EAC1-A50D-DC45-A59E-46F4793B825D}"/>
              </a:ext>
            </a:extLst>
          </p:cNvPr>
          <p:cNvSpPr>
            <a:spLocks noGrp="1"/>
          </p:cNvSpPr>
          <p:nvPr>
            <p:ph type="dt" sz="half" idx="10"/>
          </p:nvPr>
        </p:nvSpPr>
        <p:spPr/>
        <p:txBody>
          <a:bodyPr/>
          <a:lstStyle/>
          <a:p>
            <a:fld id="{004EBD3A-4CD1-5440-8997-2B213668CD8A}" type="datetimeFigureOut">
              <a:rPr lang="en-US" smtClean="0"/>
              <a:t>7/2/25</a:t>
            </a:fld>
            <a:endParaRPr lang="en-US"/>
          </a:p>
        </p:txBody>
      </p:sp>
      <p:sp>
        <p:nvSpPr>
          <p:cNvPr id="6" name="Footer Placeholder 5">
            <a:extLst>
              <a:ext uri="{FF2B5EF4-FFF2-40B4-BE49-F238E27FC236}">
                <a16:creationId xmlns:a16="http://schemas.microsoft.com/office/drawing/2014/main" id="{096F2750-E4CD-5146-AA78-5F712C578B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C3A43B-F660-7C44-BE0D-649E6139DBBC}"/>
              </a:ext>
            </a:extLst>
          </p:cNvPr>
          <p:cNvSpPr>
            <a:spLocks noGrp="1"/>
          </p:cNvSpPr>
          <p:nvPr>
            <p:ph type="sldNum" sz="quarter" idx="12"/>
          </p:nvPr>
        </p:nvSpPr>
        <p:spPr/>
        <p:txBody>
          <a:bodyPr/>
          <a:lstStyle/>
          <a:p>
            <a:fld id="{DAF0FC8E-D3C0-0D4C-8608-74EBA918F088}" type="slidenum">
              <a:rPr lang="en-US" smtClean="0"/>
              <a:t>‹#›</a:t>
            </a:fld>
            <a:endParaRPr lang="en-US"/>
          </a:p>
        </p:txBody>
      </p:sp>
    </p:spTree>
    <p:extLst>
      <p:ext uri="{BB962C8B-B14F-4D97-AF65-F5344CB8AC3E}">
        <p14:creationId xmlns:p14="http://schemas.microsoft.com/office/powerpoint/2010/main" val="2655219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11ACA-EF8F-4443-BF3D-331C28B996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03AA5C-A4BB-3041-802E-B6D23F4FE5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3C390A1-B767-134D-944C-C768BB693E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D96F45-0637-E44B-9975-437C21861FAC}"/>
              </a:ext>
            </a:extLst>
          </p:cNvPr>
          <p:cNvSpPr>
            <a:spLocks noGrp="1"/>
          </p:cNvSpPr>
          <p:nvPr>
            <p:ph type="dt" sz="half" idx="10"/>
          </p:nvPr>
        </p:nvSpPr>
        <p:spPr/>
        <p:txBody>
          <a:bodyPr/>
          <a:lstStyle/>
          <a:p>
            <a:fld id="{004EBD3A-4CD1-5440-8997-2B213668CD8A}" type="datetimeFigureOut">
              <a:rPr lang="en-US" smtClean="0"/>
              <a:t>7/2/25</a:t>
            </a:fld>
            <a:endParaRPr lang="en-US"/>
          </a:p>
        </p:txBody>
      </p:sp>
      <p:sp>
        <p:nvSpPr>
          <p:cNvPr id="6" name="Footer Placeholder 5">
            <a:extLst>
              <a:ext uri="{FF2B5EF4-FFF2-40B4-BE49-F238E27FC236}">
                <a16:creationId xmlns:a16="http://schemas.microsoft.com/office/drawing/2014/main" id="{2B56984A-DE85-6345-BA9D-E55706C3AC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6F7549-72BF-3040-84D0-3B9777F75A6F}"/>
              </a:ext>
            </a:extLst>
          </p:cNvPr>
          <p:cNvSpPr>
            <a:spLocks noGrp="1"/>
          </p:cNvSpPr>
          <p:nvPr>
            <p:ph type="sldNum" sz="quarter" idx="12"/>
          </p:nvPr>
        </p:nvSpPr>
        <p:spPr/>
        <p:txBody>
          <a:bodyPr/>
          <a:lstStyle/>
          <a:p>
            <a:fld id="{DAF0FC8E-D3C0-0D4C-8608-74EBA918F088}" type="slidenum">
              <a:rPr lang="en-US" smtClean="0"/>
              <a:t>‹#›</a:t>
            </a:fld>
            <a:endParaRPr lang="en-US"/>
          </a:p>
        </p:txBody>
      </p:sp>
    </p:spTree>
    <p:extLst>
      <p:ext uri="{BB962C8B-B14F-4D97-AF65-F5344CB8AC3E}">
        <p14:creationId xmlns:p14="http://schemas.microsoft.com/office/powerpoint/2010/main" val="4194860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14145-2305-2140-8342-04C68948427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78F509-0349-EA45-A9E7-166A48127B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1C1BAA-F130-794F-92BF-25587A78B25B}"/>
              </a:ext>
            </a:extLst>
          </p:cNvPr>
          <p:cNvSpPr>
            <a:spLocks noGrp="1"/>
          </p:cNvSpPr>
          <p:nvPr>
            <p:ph type="dt" sz="half" idx="10"/>
          </p:nvPr>
        </p:nvSpPr>
        <p:spPr/>
        <p:txBody>
          <a:bodyPr/>
          <a:lstStyle/>
          <a:p>
            <a:fld id="{004EBD3A-4CD1-5440-8997-2B213668CD8A}" type="datetimeFigureOut">
              <a:rPr lang="en-US" smtClean="0"/>
              <a:t>7/2/25</a:t>
            </a:fld>
            <a:endParaRPr lang="en-US"/>
          </a:p>
        </p:txBody>
      </p:sp>
      <p:sp>
        <p:nvSpPr>
          <p:cNvPr id="5" name="Footer Placeholder 4">
            <a:extLst>
              <a:ext uri="{FF2B5EF4-FFF2-40B4-BE49-F238E27FC236}">
                <a16:creationId xmlns:a16="http://schemas.microsoft.com/office/drawing/2014/main" id="{C582ABFC-3530-4947-A539-3F5623C734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2AD745-173C-224C-B538-D2028A2F5ECD}"/>
              </a:ext>
            </a:extLst>
          </p:cNvPr>
          <p:cNvSpPr>
            <a:spLocks noGrp="1"/>
          </p:cNvSpPr>
          <p:nvPr>
            <p:ph type="sldNum" sz="quarter" idx="12"/>
          </p:nvPr>
        </p:nvSpPr>
        <p:spPr/>
        <p:txBody>
          <a:bodyPr/>
          <a:lstStyle/>
          <a:p>
            <a:fld id="{DAF0FC8E-D3C0-0D4C-8608-74EBA918F088}" type="slidenum">
              <a:rPr lang="en-US" smtClean="0"/>
              <a:t>‹#›</a:t>
            </a:fld>
            <a:endParaRPr lang="en-US"/>
          </a:p>
        </p:txBody>
      </p:sp>
    </p:spTree>
    <p:extLst>
      <p:ext uri="{BB962C8B-B14F-4D97-AF65-F5344CB8AC3E}">
        <p14:creationId xmlns:p14="http://schemas.microsoft.com/office/powerpoint/2010/main" val="1892644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2D5187-D026-7540-9BA1-9D91273915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FB168D-566D-5B44-8964-C3EF33D4E3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1D2507-3191-0C46-9CF6-B490D75BC0D6}"/>
              </a:ext>
            </a:extLst>
          </p:cNvPr>
          <p:cNvSpPr>
            <a:spLocks noGrp="1"/>
          </p:cNvSpPr>
          <p:nvPr>
            <p:ph type="dt" sz="half" idx="10"/>
          </p:nvPr>
        </p:nvSpPr>
        <p:spPr/>
        <p:txBody>
          <a:bodyPr/>
          <a:lstStyle/>
          <a:p>
            <a:fld id="{004EBD3A-4CD1-5440-8997-2B213668CD8A}" type="datetimeFigureOut">
              <a:rPr lang="en-US" smtClean="0"/>
              <a:t>7/2/25</a:t>
            </a:fld>
            <a:endParaRPr lang="en-US"/>
          </a:p>
        </p:txBody>
      </p:sp>
      <p:sp>
        <p:nvSpPr>
          <p:cNvPr id="5" name="Footer Placeholder 4">
            <a:extLst>
              <a:ext uri="{FF2B5EF4-FFF2-40B4-BE49-F238E27FC236}">
                <a16:creationId xmlns:a16="http://schemas.microsoft.com/office/drawing/2014/main" id="{58AEAFDF-5426-1441-A2B7-8C3D8D905D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8DECEB-3734-4D4D-929E-5EA9076E8558}"/>
              </a:ext>
            </a:extLst>
          </p:cNvPr>
          <p:cNvSpPr>
            <a:spLocks noGrp="1"/>
          </p:cNvSpPr>
          <p:nvPr>
            <p:ph type="sldNum" sz="quarter" idx="12"/>
          </p:nvPr>
        </p:nvSpPr>
        <p:spPr/>
        <p:txBody>
          <a:bodyPr/>
          <a:lstStyle/>
          <a:p>
            <a:fld id="{DAF0FC8E-D3C0-0D4C-8608-74EBA918F088}" type="slidenum">
              <a:rPr lang="en-US" smtClean="0"/>
              <a:t>‹#›</a:t>
            </a:fld>
            <a:endParaRPr lang="en-US"/>
          </a:p>
        </p:txBody>
      </p:sp>
    </p:spTree>
    <p:extLst>
      <p:ext uri="{BB962C8B-B14F-4D97-AF65-F5344CB8AC3E}">
        <p14:creationId xmlns:p14="http://schemas.microsoft.com/office/powerpoint/2010/main" val="1911727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464FEF-070E-B541-8E78-5AA42C56C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AB2BCA-B893-1542-BF7B-82C2CC6CF9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57A5D-BA50-E242-B238-ED912C9E3C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EBD3A-4CD1-5440-8997-2B213668CD8A}" type="datetimeFigureOut">
              <a:rPr lang="en-US" smtClean="0"/>
              <a:t>7/2/25</a:t>
            </a:fld>
            <a:endParaRPr lang="en-US"/>
          </a:p>
        </p:txBody>
      </p:sp>
      <p:sp>
        <p:nvSpPr>
          <p:cNvPr id="5" name="Footer Placeholder 4">
            <a:extLst>
              <a:ext uri="{FF2B5EF4-FFF2-40B4-BE49-F238E27FC236}">
                <a16:creationId xmlns:a16="http://schemas.microsoft.com/office/drawing/2014/main" id="{582F1FDD-36F2-7C40-966A-3F01D09465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3787A1-81E1-614C-95BB-C717261B83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F0FC8E-D3C0-0D4C-8608-74EBA918F088}" type="slidenum">
              <a:rPr lang="en-US" smtClean="0"/>
              <a:t>‹#›</a:t>
            </a:fld>
            <a:endParaRPr lang="en-US"/>
          </a:p>
        </p:txBody>
      </p:sp>
    </p:spTree>
    <p:extLst>
      <p:ext uri="{BB962C8B-B14F-4D97-AF65-F5344CB8AC3E}">
        <p14:creationId xmlns:p14="http://schemas.microsoft.com/office/powerpoint/2010/main" val="3681942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4E03FB-8800-A6E1-557F-8EC7FE30AFBD}"/>
              </a:ext>
            </a:extLst>
          </p:cNvPr>
          <p:cNvSpPr>
            <a:spLocks noGrp="1"/>
          </p:cNvSpPr>
          <p:nvPr>
            <p:ph type="ctrTitle"/>
          </p:nvPr>
        </p:nvSpPr>
        <p:spPr/>
        <p:txBody>
          <a:bodyPr>
            <a:normAutofit/>
          </a:bodyPr>
          <a:lstStyle/>
          <a:p>
            <a:r>
              <a:rPr lang="en-US" b="1" dirty="0"/>
              <a:t>Algorithms and Machine Learning</a:t>
            </a:r>
            <a:endParaRPr lang="en-US" dirty="0"/>
          </a:p>
        </p:txBody>
      </p:sp>
      <p:sp>
        <p:nvSpPr>
          <p:cNvPr id="5" name="Subtitle 4">
            <a:extLst>
              <a:ext uri="{FF2B5EF4-FFF2-40B4-BE49-F238E27FC236}">
                <a16:creationId xmlns:a16="http://schemas.microsoft.com/office/drawing/2014/main" id="{742DFB19-590E-FCDC-8C83-615EA4C5400F}"/>
              </a:ext>
            </a:extLst>
          </p:cNvPr>
          <p:cNvSpPr>
            <a:spLocks noGrp="1"/>
          </p:cNvSpPr>
          <p:nvPr>
            <p:ph type="subTitle" idx="1"/>
          </p:nvPr>
        </p:nvSpPr>
        <p:spPr>
          <a:xfrm>
            <a:off x="1524000" y="3602038"/>
            <a:ext cx="9568070" cy="1655762"/>
          </a:xfrm>
        </p:spPr>
        <p:txBody>
          <a:bodyPr>
            <a:normAutofit/>
          </a:bodyPr>
          <a:lstStyle/>
          <a:p>
            <a:endParaRPr lang="en-US" sz="3200" dirty="0"/>
          </a:p>
        </p:txBody>
      </p:sp>
    </p:spTree>
    <p:extLst>
      <p:ext uri="{BB962C8B-B14F-4D97-AF65-F5344CB8AC3E}">
        <p14:creationId xmlns:p14="http://schemas.microsoft.com/office/powerpoint/2010/main" val="1763564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58A91-D8D2-41A1-BC9E-728D9D47CFA9}"/>
              </a:ext>
            </a:extLst>
          </p:cNvPr>
          <p:cNvSpPr>
            <a:spLocks noGrp="1"/>
          </p:cNvSpPr>
          <p:nvPr>
            <p:ph type="title"/>
          </p:nvPr>
        </p:nvSpPr>
        <p:spPr/>
        <p:txBody>
          <a:bodyPr/>
          <a:lstStyle/>
          <a:p>
            <a:r>
              <a:rPr lang="en-US" dirty="0"/>
              <a:t>Supervised Learning</a:t>
            </a:r>
          </a:p>
        </p:txBody>
      </p:sp>
      <p:sp>
        <p:nvSpPr>
          <p:cNvPr id="3" name="Content Placeholder 2">
            <a:extLst>
              <a:ext uri="{FF2B5EF4-FFF2-40B4-BE49-F238E27FC236}">
                <a16:creationId xmlns:a16="http://schemas.microsoft.com/office/drawing/2014/main" id="{2CBF59D3-EAF7-7346-ADA3-F872C6426C59}"/>
              </a:ext>
            </a:extLst>
          </p:cNvPr>
          <p:cNvSpPr>
            <a:spLocks noGrp="1"/>
          </p:cNvSpPr>
          <p:nvPr>
            <p:ph idx="1"/>
          </p:nvPr>
        </p:nvSpPr>
        <p:spPr/>
        <p:txBody>
          <a:bodyPr/>
          <a:lstStyle/>
          <a:p>
            <a:r>
              <a:rPr lang="en-US" dirty="0"/>
              <a:t>Supervised learning is a type of machine learning where an algorithm learns from a labeled dataset to predict outcomes or classify data. Essentially, the algorithm is "trained" on data that includes both inputs and the correct outputs, allowing it to learn the relationship between them. </a:t>
            </a:r>
          </a:p>
        </p:txBody>
      </p:sp>
    </p:spTree>
    <p:extLst>
      <p:ext uri="{BB962C8B-B14F-4D97-AF65-F5344CB8AC3E}">
        <p14:creationId xmlns:p14="http://schemas.microsoft.com/office/powerpoint/2010/main" val="2289239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926C3-CD08-3671-8178-E9B880C8BA25}"/>
              </a:ext>
            </a:extLst>
          </p:cNvPr>
          <p:cNvSpPr>
            <a:spLocks noGrp="1"/>
          </p:cNvSpPr>
          <p:nvPr>
            <p:ph type="title"/>
          </p:nvPr>
        </p:nvSpPr>
        <p:spPr/>
        <p:txBody>
          <a:bodyPr/>
          <a:lstStyle/>
          <a:p>
            <a:r>
              <a:rPr lang="en-US" dirty="0"/>
              <a:t>Unsupervised Learning</a:t>
            </a:r>
          </a:p>
        </p:txBody>
      </p:sp>
      <p:sp>
        <p:nvSpPr>
          <p:cNvPr id="3" name="Content Placeholder 2">
            <a:extLst>
              <a:ext uri="{FF2B5EF4-FFF2-40B4-BE49-F238E27FC236}">
                <a16:creationId xmlns:a16="http://schemas.microsoft.com/office/drawing/2014/main" id="{C9955E82-7570-3739-9138-6EE32F48BA99}"/>
              </a:ext>
            </a:extLst>
          </p:cNvPr>
          <p:cNvSpPr>
            <a:spLocks noGrp="1"/>
          </p:cNvSpPr>
          <p:nvPr>
            <p:ph idx="1"/>
          </p:nvPr>
        </p:nvSpPr>
        <p:spPr/>
        <p:txBody>
          <a:bodyPr/>
          <a:lstStyle/>
          <a:p>
            <a:r>
              <a:rPr lang="en-US" dirty="0"/>
              <a:t>Unsupervised learning is a type of machine learning that analyzes unlabeled data to discover hidden patterns, structures, and relationships within the data without any prior knowledge or labeled examples. </a:t>
            </a:r>
          </a:p>
          <a:p>
            <a:r>
              <a:rPr lang="en-US" dirty="0"/>
              <a:t>Unlike supervised learning, where the model learns from labeled data to predict or classify, unsupervised learning algorithms explore the data to identify inherent groupings, anomalies, or data representations. </a:t>
            </a:r>
          </a:p>
        </p:txBody>
      </p:sp>
    </p:spTree>
    <p:extLst>
      <p:ext uri="{BB962C8B-B14F-4D97-AF65-F5344CB8AC3E}">
        <p14:creationId xmlns:p14="http://schemas.microsoft.com/office/powerpoint/2010/main" val="2801473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8373D-AF72-B97B-8B12-9BBC9C6B60C0}"/>
              </a:ext>
            </a:extLst>
          </p:cNvPr>
          <p:cNvSpPr>
            <a:spLocks noGrp="1"/>
          </p:cNvSpPr>
          <p:nvPr>
            <p:ph type="title"/>
          </p:nvPr>
        </p:nvSpPr>
        <p:spPr/>
        <p:txBody>
          <a:bodyPr/>
          <a:lstStyle/>
          <a:p>
            <a:r>
              <a:rPr lang="en-US" dirty="0"/>
              <a:t>What is Decision Tree</a:t>
            </a:r>
          </a:p>
        </p:txBody>
      </p:sp>
      <p:sp>
        <p:nvSpPr>
          <p:cNvPr id="3" name="Content Placeholder 2">
            <a:extLst>
              <a:ext uri="{FF2B5EF4-FFF2-40B4-BE49-F238E27FC236}">
                <a16:creationId xmlns:a16="http://schemas.microsoft.com/office/drawing/2014/main" id="{6006DB5A-86ED-B075-8BCA-31D1339FF495}"/>
              </a:ext>
            </a:extLst>
          </p:cNvPr>
          <p:cNvSpPr>
            <a:spLocks noGrp="1"/>
          </p:cNvSpPr>
          <p:nvPr>
            <p:ph idx="1"/>
          </p:nvPr>
        </p:nvSpPr>
        <p:spPr/>
        <p:txBody>
          <a:bodyPr>
            <a:normAutofit fontScale="70000" lnSpcReduction="20000"/>
          </a:bodyPr>
          <a:lstStyle/>
          <a:p>
            <a:pPr algn="l" fontAlgn="base">
              <a:spcAft>
                <a:spcPts val="1200"/>
              </a:spcAft>
            </a:pPr>
            <a:r>
              <a:rPr lang="en-US" b="0" i="0" dirty="0">
                <a:solidFill>
                  <a:srgbClr val="3C4043"/>
                </a:solidFill>
                <a:effectLst/>
                <a:latin typeface="Inter"/>
              </a:rPr>
              <a:t>“Decision tree algorithm belongs to the family of supervised learning algorithms. </a:t>
            </a:r>
          </a:p>
          <a:p>
            <a:pPr algn="l" fontAlgn="base">
              <a:spcAft>
                <a:spcPts val="1200"/>
              </a:spcAft>
            </a:pPr>
            <a:r>
              <a:rPr lang="en-US" b="0" i="0" dirty="0">
                <a:solidFill>
                  <a:srgbClr val="3C4043"/>
                </a:solidFill>
                <a:effectLst/>
                <a:latin typeface="Inter"/>
              </a:rPr>
              <a:t>Unlike other supervised learning algorithms decision tree can be used to solve regression and classification problems. </a:t>
            </a:r>
          </a:p>
          <a:p>
            <a:pPr algn="l" fontAlgn="base">
              <a:spcAft>
                <a:spcPts val="1200"/>
              </a:spcAft>
            </a:pPr>
            <a:r>
              <a:rPr lang="en-US" b="0" i="0" dirty="0">
                <a:solidFill>
                  <a:srgbClr val="3C4043"/>
                </a:solidFill>
                <a:effectLst/>
                <a:latin typeface="Inter"/>
              </a:rPr>
              <a:t>The goal of decision tree is to create training model that can predict class(single or multi) or value by learning simple decision rules from training data. </a:t>
            </a:r>
          </a:p>
          <a:p>
            <a:pPr algn="l" fontAlgn="base">
              <a:spcAft>
                <a:spcPts val="1200"/>
              </a:spcAft>
            </a:pPr>
            <a:r>
              <a:rPr lang="en-US" b="0" i="0" dirty="0">
                <a:solidFill>
                  <a:srgbClr val="3C4043"/>
                </a:solidFill>
                <a:effectLst/>
                <a:latin typeface="Inter"/>
              </a:rPr>
              <a:t>Decision tree form a flow chart like structure that's why they are very easy to interpret and understand. It is one of the few ML algorithm where its very easy to visualize and analyze the internal working of algorithm.”</a:t>
            </a:r>
          </a:p>
          <a:p>
            <a:pPr algn="l" fontAlgn="base">
              <a:spcAft>
                <a:spcPts val="1200"/>
              </a:spcAft>
            </a:pPr>
            <a:r>
              <a:rPr lang="en-US" b="0" i="0" dirty="0">
                <a:solidFill>
                  <a:srgbClr val="3C4043"/>
                </a:solidFill>
                <a:effectLst/>
                <a:latin typeface="Inter"/>
              </a:rPr>
              <a:t>“Just like flowchart, decision tree contains different types of nodes and branches. </a:t>
            </a:r>
          </a:p>
          <a:p>
            <a:pPr algn="l" fontAlgn="base">
              <a:spcAft>
                <a:spcPts val="1200"/>
              </a:spcAft>
            </a:pPr>
            <a:r>
              <a:rPr lang="en-US" b="0" i="0" dirty="0">
                <a:solidFill>
                  <a:srgbClr val="3C4043"/>
                </a:solidFill>
                <a:effectLst/>
                <a:latin typeface="Inter"/>
              </a:rPr>
              <a:t>Every decision node represent the test on feature and based on the test result it will either form another branch or the leaf node. Every branch represents the decision rule and leaf node represent the final outcome.</a:t>
            </a:r>
          </a:p>
          <a:p>
            <a:endParaRPr lang="en-US" dirty="0"/>
          </a:p>
        </p:txBody>
      </p:sp>
    </p:spTree>
    <p:extLst>
      <p:ext uri="{BB962C8B-B14F-4D97-AF65-F5344CB8AC3E}">
        <p14:creationId xmlns:p14="http://schemas.microsoft.com/office/powerpoint/2010/main" val="3807693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C5136-AD5D-845A-99FB-A09718047611}"/>
              </a:ext>
            </a:extLst>
          </p:cNvPr>
          <p:cNvSpPr>
            <a:spLocks noGrp="1"/>
          </p:cNvSpPr>
          <p:nvPr>
            <p:ph type="title"/>
          </p:nvPr>
        </p:nvSpPr>
        <p:spPr/>
        <p:txBody>
          <a:bodyPr/>
          <a:lstStyle/>
          <a:p>
            <a:r>
              <a:rPr lang="en-US" dirty="0"/>
              <a:t>What is Random Forest</a:t>
            </a:r>
          </a:p>
        </p:txBody>
      </p:sp>
      <p:sp>
        <p:nvSpPr>
          <p:cNvPr id="3" name="Content Placeholder 2">
            <a:extLst>
              <a:ext uri="{FF2B5EF4-FFF2-40B4-BE49-F238E27FC236}">
                <a16:creationId xmlns:a16="http://schemas.microsoft.com/office/drawing/2014/main" id="{250A2699-D35F-6ABA-CB98-54381EEDA55A}"/>
              </a:ext>
            </a:extLst>
          </p:cNvPr>
          <p:cNvSpPr>
            <a:spLocks noGrp="1"/>
          </p:cNvSpPr>
          <p:nvPr>
            <p:ph idx="1"/>
          </p:nvPr>
        </p:nvSpPr>
        <p:spPr/>
        <p:txBody>
          <a:bodyPr>
            <a:normAutofit fontScale="92500"/>
          </a:bodyPr>
          <a:lstStyle/>
          <a:p>
            <a:r>
              <a:rPr lang="en-US" b="0" i="0" dirty="0">
                <a:solidFill>
                  <a:srgbClr val="242424"/>
                </a:solidFill>
                <a:effectLst/>
                <a:latin typeface="source-serif-pro"/>
              </a:rPr>
              <a:t>“A random forest is a supervised machine learning algorithm that is constructed from decision tree algorithms. This algorithm is applied in various industries such as banking and e-commerce to predict behavior and outcomes.”</a:t>
            </a:r>
          </a:p>
          <a:p>
            <a:pPr algn="l">
              <a:lnSpc>
                <a:spcPts val="2400"/>
              </a:lnSpc>
            </a:pPr>
            <a:r>
              <a:rPr lang="en-US" b="0" i="0" dirty="0">
                <a:solidFill>
                  <a:srgbClr val="242424"/>
                </a:solidFill>
                <a:effectLst/>
                <a:latin typeface="source-serif-pro"/>
              </a:rPr>
              <a:t>“A random forest is a machine learning technique that’s used to solve regression and classification problems. It utilizes ensemble learning, which is a technique that combines many classifiers to provide solutions to complex problems.”</a:t>
            </a:r>
          </a:p>
          <a:p>
            <a:pPr algn="l">
              <a:lnSpc>
                <a:spcPts val="2400"/>
              </a:lnSpc>
            </a:pPr>
            <a:r>
              <a:rPr lang="en-US" b="0" i="0" dirty="0">
                <a:solidFill>
                  <a:srgbClr val="242424"/>
                </a:solidFill>
                <a:effectLst/>
                <a:latin typeface="source-serif-pro"/>
              </a:rPr>
              <a:t>“A random forest algorithm consists of many decision trees. The ‘forest’ generated by the random forest algorithm is trained through bagging or bootstrap aggregating. Bagging is an ensemble meta-algorithm that improves the accuracy of machine learning algorithms.”</a:t>
            </a:r>
          </a:p>
          <a:p>
            <a:endParaRPr lang="en-US" dirty="0"/>
          </a:p>
        </p:txBody>
      </p:sp>
    </p:spTree>
    <p:extLst>
      <p:ext uri="{BB962C8B-B14F-4D97-AF65-F5344CB8AC3E}">
        <p14:creationId xmlns:p14="http://schemas.microsoft.com/office/powerpoint/2010/main" val="1200603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BBB09-65E4-B32C-9B07-7075843B3114}"/>
              </a:ext>
            </a:extLst>
          </p:cNvPr>
          <p:cNvSpPr>
            <a:spLocks noGrp="1"/>
          </p:cNvSpPr>
          <p:nvPr>
            <p:ph type="title"/>
          </p:nvPr>
        </p:nvSpPr>
        <p:spPr>
          <a:xfrm>
            <a:off x="838200" y="136525"/>
            <a:ext cx="10515600" cy="1069423"/>
          </a:xfrm>
        </p:spPr>
        <p:txBody>
          <a:bodyPr>
            <a:normAutofit/>
          </a:bodyPr>
          <a:lstStyle/>
          <a:p>
            <a:r>
              <a:rPr lang="en-US" dirty="0"/>
              <a:t>What is Logistic Regression</a:t>
            </a:r>
          </a:p>
        </p:txBody>
      </p:sp>
      <p:sp>
        <p:nvSpPr>
          <p:cNvPr id="3" name="Content Placeholder 2">
            <a:extLst>
              <a:ext uri="{FF2B5EF4-FFF2-40B4-BE49-F238E27FC236}">
                <a16:creationId xmlns:a16="http://schemas.microsoft.com/office/drawing/2014/main" id="{68D80394-8F03-EF2C-5EA2-16AE57278EFA}"/>
              </a:ext>
            </a:extLst>
          </p:cNvPr>
          <p:cNvSpPr>
            <a:spLocks noGrp="1"/>
          </p:cNvSpPr>
          <p:nvPr>
            <p:ph idx="1"/>
          </p:nvPr>
        </p:nvSpPr>
        <p:spPr/>
        <p:txBody>
          <a:bodyPr/>
          <a:lstStyle/>
          <a:p>
            <a:r>
              <a:rPr lang="en-US" dirty="0">
                <a:solidFill>
                  <a:srgbClr val="273239"/>
                </a:solidFill>
                <a:latin typeface="Nunito" pitchFamily="2" charset="77"/>
              </a:rPr>
              <a:t>”</a:t>
            </a:r>
            <a:r>
              <a:rPr lang="en-US" b="0" i="0" dirty="0">
                <a:solidFill>
                  <a:srgbClr val="273239"/>
                </a:solidFill>
                <a:effectLst/>
                <a:latin typeface="Nunito" pitchFamily="2" charset="77"/>
              </a:rPr>
              <a:t>A basic machine learning approach that is frequently used for binary classification tasks is called logistic regression. </a:t>
            </a:r>
          </a:p>
          <a:p>
            <a:r>
              <a:rPr lang="en-US" b="0" i="0" dirty="0">
                <a:solidFill>
                  <a:srgbClr val="273239"/>
                </a:solidFill>
                <a:effectLst/>
                <a:latin typeface="Nunito" pitchFamily="2" charset="77"/>
              </a:rPr>
              <a:t>Though its name suggests otherwise, it uses the sigmoid function to simulate the likelihood of an instance falling into a specific class, producing values between 0 and 1. </a:t>
            </a:r>
          </a:p>
          <a:p>
            <a:r>
              <a:rPr lang="en-US" b="0" i="0" dirty="0">
                <a:solidFill>
                  <a:srgbClr val="273239"/>
                </a:solidFill>
                <a:effectLst/>
                <a:latin typeface="Nunito" pitchFamily="2" charset="77"/>
              </a:rPr>
              <a:t>Logistic regression, with its emphasis on interpretability, simplicity, and efficient computation, is widely applied in a variety of fields, such as marketing, finance, and healthcare, and it offers insightful forecasts and useful information for decision-making.”</a:t>
            </a:r>
            <a:endParaRPr lang="en-US" dirty="0"/>
          </a:p>
        </p:txBody>
      </p:sp>
    </p:spTree>
    <p:extLst>
      <p:ext uri="{BB962C8B-B14F-4D97-AF65-F5344CB8AC3E}">
        <p14:creationId xmlns:p14="http://schemas.microsoft.com/office/powerpoint/2010/main" val="2725847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6EB77-3115-CF2A-9255-D2E8ED3546C6}"/>
              </a:ext>
            </a:extLst>
          </p:cNvPr>
          <p:cNvSpPr>
            <a:spLocks noGrp="1"/>
          </p:cNvSpPr>
          <p:nvPr>
            <p:ph type="title"/>
          </p:nvPr>
        </p:nvSpPr>
        <p:spPr/>
        <p:txBody>
          <a:bodyPr/>
          <a:lstStyle/>
          <a:p>
            <a:r>
              <a:rPr lang="en-US" dirty="0"/>
              <a:t>What is Ensemble Learning</a:t>
            </a:r>
          </a:p>
        </p:txBody>
      </p:sp>
      <p:sp>
        <p:nvSpPr>
          <p:cNvPr id="3" name="Content Placeholder 2">
            <a:extLst>
              <a:ext uri="{FF2B5EF4-FFF2-40B4-BE49-F238E27FC236}">
                <a16:creationId xmlns:a16="http://schemas.microsoft.com/office/drawing/2014/main" id="{F86E1675-583E-5AB7-9DF9-8C1783A649D8}"/>
              </a:ext>
            </a:extLst>
          </p:cNvPr>
          <p:cNvSpPr>
            <a:spLocks noGrp="1"/>
          </p:cNvSpPr>
          <p:nvPr>
            <p:ph idx="1"/>
          </p:nvPr>
        </p:nvSpPr>
        <p:spPr/>
        <p:txBody>
          <a:bodyPr/>
          <a:lstStyle/>
          <a:p>
            <a:r>
              <a:rPr lang="en-US" dirty="0">
                <a:solidFill>
                  <a:srgbClr val="242424"/>
                </a:solidFill>
                <a:latin typeface="source-serif-pro"/>
              </a:rPr>
              <a:t>”</a:t>
            </a:r>
            <a:r>
              <a:rPr lang="en-US" i="0" dirty="0">
                <a:solidFill>
                  <a:srgbClr val="242424"/>
                </a:solidFill>
                <a:effectLst/>
                <a:latin typeface="source-serif-pro"/>
              </a:rPr>
              <a:t>Ensemble methods </a:t>
            </a:r>
            <a:r>
              <a:rPr lang="en-US" i="1" dirty="0">
                <a:solidFill>
                  <a:srgbClr val="242424"/>
                </a:solidFill>
                <a:effectLst/>
                <a:latin typeface="source-serif-pro"/>
              </a:rPr>
              <a:t>combine several trees base algorithms to construct better predictive performance than a single tree base algorithm. </a:t>
            </a:r>
          </a:p>
          <a:p>
            <a:r>
              <a:rPr lang="en-US" i="1" dirty="0">
                <a:solidFill>
                  <a:srgbClr val="242424"/>
                </a:solidFill>
                <a:effectLst/>
                <a:latin typeface="source-serif-pro"/>
              </a:rPr>
              <a:t>The main principle behind the ensemble model is that a group of weak learners come together to form a strong learner, thus increasing the accuracy of the model. </a:t>
            </a:r>
          </a:p>
          <a:p>
            <a:r>
              <a:rPr lang="en-US" i="1" dirty="0">
                <a:solidFill>
                  <a:srgbClr val="242424"/>
                </a:solidFill>
                <a:effectLst/>
                <a:latin typeface="source-serif-pro"/>
              </a:rPr>
              <a:t>When we try to predict the target variable using any machine learning technique, the main causes of difference in actual and predicted values are noise, variance, and bias. Ensemble helps to reduce these factors (except noise, which is irreducible error).”</a:t>
            </a:r>
            <a:endParaRPr lang="en-US" dirty="0"/>
          </a:p>
        </p:txBody>
      </p:sp>
    </p:spTree>
    <p:extLst>
      <p:ext uri="{BB962C8B-B14F-4D97-AF65-F5344CB8AC3E}">
        <p14:creationId xmlns:p14="http://schemas.microsoft.com/office/powerpoint/2010/main" val="2538719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5BDBF-52D7-8F3D-8B38-DDEB28B7FD67}"/>
              </a:ext>
            </a:extLst>
          </p:cNvPr>
          <p:cNvSpPr>
            <a:spLocks noGrp="1"/>
          </p:cNvSpPr>
          <p:nvPr>
            <p:ph type="title"/>
          </p:nvPr>
        </p:nvSpPr>
        <p:spPr/>
        <p:txBody>
          <a:bodyPr/>
          <a:lstStyle/>
          <a:p>
            <a:r>
              <a:rPr lang="en-US" dirty="0"/>
              <a:t>Preprocessing</a:t>
            </a:r>
          </a:p>
        </p:txBody>
      </p:sp>
      <p:sp>
        <p:nvSpPr>
          <p:cNvPr id="3" name="Content Placeholder 2">
            <a:extLst>
              <a:ext uri="{FF2B5EF4-FFF2-40B4-BE49-F238E27FC236}">
                <a16:creationId xmlns:a16="http://schemas.microsoft.com/office/drawing/2014/main" id="{0606F94D-DC70-03EB-1A84-4F42C5E46FE9}"/>
              </a:ext>
            </a:extLst>
          </p:cNvPr>
          <p:cNvSpPr>
            <a:spLocks noGrp="1"/>
          </p:cNvSpPr>
          <p:nvPr>
            <p:ph idx="1"/>
          </p:nvPr>
        </p:nvSpPr>
        <p:spPr/>
        <p:txBody>
          <a:bodyPr/>
          <a:lstStyle/>
          <a:p>
            <a:r>
              <a:rPr lang="en-US" dirty="0"/>
              <a:t>In machine learning, preprocessing refers to the initial steps of preparing raw data into a usable format for training models. It involves cleaning, transforming, and structuring data to make it suitable for algorithms to learn from effectively. This is a crucial step because real-world data is often messy and needs to be refined before it can be used for building accurate and reliable machine learning models. </a:t>
            </a:r>
          </a:p>
        </p:txBody>
      </p:sp>
    </p:spTree>
    <p:extLst>
      <p:ext uri="{BB962C8B-B14F-4D97-AF65-F5344CB8AC3E}">
        <p14:creationId xmlns:p14="http://schemas.microsoft.com/office/powerpoint/2010/main" val="2367915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D427E-00F1-47C1-B391-740A94127255}"/>
              </a:ext>
            </a:extLst>
          </p:cNvPr>
          <p:cNvSpPr>
            <a:spLocks noGrp="1"/>
          </p:cNvSpPr>
          <p:nvPr>
            <p:ph type="title"/>
          </p:nvPr>
        </p:nvSpPr>
        <p:spPr/>
        <p:txBody>
          <a:bodyPr/>
          <a:lstStyle/>
          <a:p>
            <a:r>
              <a:rPr lang="en-US" dirty="0"/>
              <a:t>Preprocessing</a:t>
            </a:r>
          </a:p>
        </p:txBody>
      </p:sp>
      <p:pic>
        <p:nvPicPr>
          <p:cNvPr id="5" name="Content Placeholder 4" descr="A blue squares with white text&#10;&#10;AI-generated content may be incorrect.">
            <a:extLst>
              <a:ext uri="{FF2B5EF4-FFF2-40B4-BE49-F238E27FC236}">
                <a16:creationId xmlns:a16="http://schemas.microsoft.com/office/drawing/2014/main" id="{39C17F23-40EC-7E94-30F3-A7A202071B65}"/>
              </a:ext>
            </a:extLst>
          </p:cNvPr>
          <p:cNvPicPr>
            <a:picLocks noGrp="1" noChangeAspect="1"/>
          </p:cNvPicPr>
          <p:nvPr>
            <p:ph idx="1"/>
          </p:nvPr>
        </p:nvPicPr>
        <p:blipFill>
          <a:blip r:embed="rId2"/>
          <a:stretch>
            <a:fillRect/>
          </a:stretch>
        </p:blipFill>
        <p:spPr>
          <a:xfrm>
            <a:off x="3232150" y="1758950"/>
            <a:ext cx="5727700" cy="3340100"/>
          </a:xfrm>
        </p:spPr>
      </p:pic>
      <p:sp>
        <p:nvSpPr>
          <p:cNvPr id="7" name="TextBox 6">
            <a:extLst>
              <a:ext uri="{FF2B5EF4-FFF2-40B4-BE49-F238E27FC236}">
                <a16:creationId xmlns:a16="http://schemas.microsoft.com/office/drawing/2014/main" id="{B5AE819D-7B93-E860-C217-D16A0B41B62D}"/>
              </a:ext>
            </a:extLst>
          </p:cNvPr>
          <p:cNvSpPr txBox="1"/>
          <p:nvPr/>
        </p:nvSpPr>
        <p:spPr>
          <a:xfrm>
            <a:off x="3042558" y="5099050"/>
            <a:ext cx="6106884" cy="646331"/>
          </a:xfrm>
          <a:prstGeom prst="rect">
            <a:avLst/>
          </a:prstGeom>
          <a:noFill/>
        </p:spPr>
        <p:txBody>
          <a:bodyPr wrap="square">
            <a:spAutoFit/>
          </a:bodyPr>
          <a:lstStyle/>
          <a:p>
            <a:r>
              <a:rPr lang="en-US" dirty="0"/>
              <a:t>https://</a:t>
            </a:r>
            <a:r>
              <a:rPr lang="en-US" dirty="0" err="1"/>
              <a:t>www.scalablepath.com</a:t>
            </a:r>
            <a:r>
              <a:rPr lang="en-US" dirty="0"/>
              <a:t>/data-science/data-preprocessing-phase</a:t>
            </a:r>
          </a:p>
        </p:txBody>
      </p:sp>
    </p:spTree>
    <p:extLst>
      <p:ext uri="{BB962C8B-B14F-4D97-AF65-F5344CB8AC3E}">
        <p14:creationId xmlns:p14="http://schemas.microsoft.com/office/powerpoint/2010/main" val="1360803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40780-2787-A608-7B19-4FB681968E31}"/>
              </a:ext>
            </a:extLst>
          </p:cNvPr>
          <p:cNvSpPr>
            <a:spLocks noGrp="1"/>
          </p:cNvSpPr>
          <p:nvPr>
            <p:ph type="title"/>
          </p:nvPr>
        </p:nvSpPr>
        <p:spPr>
          <a:xfrm>
            <a:off x="838200" y="136525"/>
            <a:ext cx="10515600" cy="846241"/>
          </a:xfrm>
        </p:spPr>
        <p:txBody>
          <a:bodyPr anchor="ctr">
            <a:normAutofit/>
          </a:bodyPr>
          <a:lstStyle/>
          <a:p>
            <a:r>
              <a:rPr lang="en-US" dirty="0"/>
              <a:t>Data preprocessing steps </a:t>
            </a:r>
          </a:p>
        </p:txBody>
      </p:sp>
      <p:pic>
        <p:nvPicPr>
          <p:cNvPr id="5" name="Content Placeholder 4" descr="A diagram of data processing&#10;&#10;AI-generated content may be incorrect.">
            <a:extLst>
              <a:ext uri="{FF2B5EF4-FFF2-40B4-BE49-F238E27FC236}">
                <a16:creationId xmlns:a16="http://schemas.microsoft.com/office/drawing/2014/main" id="{53A5BE51-6A1F-62E3-91CA-47D42F91265F}"/>
              </a:ext>
            </a:extLst>
          </p:cNvPr>
          <p:cNvPicPr>
            <a:picLocks noGrp="1" noChangeAspect="1"/>
          </p:cNvPicPr>
          <p:nvPr>
            <p:ph idx="1"/>
          </p:nvPr>
        </p:nvPicPr>
        <p:blipFill>
          <a:blip r:embed="rId2"/>
          <a:stretch>
            <a:fillRect/>
          </a:stretch>
        </p:blipFill>
        <p:spPr>
          <a:xfrm>
            <a:off x="1766311" y="1505280"/>
            <a:ext cx="8659377" cy="4351338"/>
          </a:xfrm>
          <a:noFill/>
        </p:spPr>
      </p:pic>
      <p:sp>
        <p:nvSpPr>
          <p:cNvPr id="7" name="TextBox 6">
            <a:extLst>
              <a:ext uri="{FF2B5EF4-FFF2-40B4-BE49-F238E27FC236}">
                <a16:creationId xmlns:a16="http://schemas.microsoft.com/office/drawing/2014/main" id="{5EE8B601-7A3C-5669-53F4-C59BBFF31B3F}"/>
              </a:ext>
            </a:extLst>
          </p:cNvPr>
          <p:cNvSpPr txBox="1"/>
          <p:nvPr/>
        </p:nvSpPr>
        <p:spPr>
          <a:xfrm>
            <a:off x="2856220" y="5732801"/>
            <a:ext cx="6106884" cy="646331"/>
          </a:xfrm>
          <a:prstGeom prst="rect">
            <a:avLst/>
          </a:prstGeom>
          <a:noFill/>
        </p:spPr>
        <p:txBody>
          <a:bodyPr wrap="square">
            <a:spAutoFit/>
          </a:bodyPr>
          <a:lstStyle/>
          <a:p>
            <a:r>
              <a:rPr lang="en-US" dirty="0"/>
              <a:t>https://</a:t>
            </a:r>
            <a:r>
              <a:rPr lang="en-US" dirty="0" err="1"/>
              <a:t>www.scalablepath.com</a:t>
            </a:r>
            <a:r>
              <a:rPr lang="en-US" dirty="0"/>
              <a:t>/data-science/data-preprocessing-phase</a:t>
            </a:r>
          </a:p>
        </p:txBody>
      </p:sp>
    </p:spTree>
    <p:extLst>
      <p:ext uri="{BB962C8B-B14F-4D97-AF65-F5344CB8AC3E}">
        <p14:creationId xmlns:p14="http://schemas.microsoft.com/office/powerpoint/2010/main" val="709335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88B34-6F41-CDBB-F5BD-D71EF70A8BC1}"/>
              </a:ext>
            </a:extLst>
          </p:cNvPr>
          <p:cNvSpPr>
            <a:spLocks noGrp="1"/>
          </p:cNvSpPr>
          <p:nvPr>
            <p:ph type="title"/>
          </p:nvPr>
        </p:nvSpPr>
        <p:spPr/>
        <p:txBody>
          <a:bodyPr/>
          <a:lstStyle/>
          <a:p>
            <a:r>
              <a:rPr lang="en-US" dirty="0"/>
              <a:t>Feature Engineering</a:t>
            </a:r>
          </a:p>
        </p:txBody>
      </p:sp>
      <p:sp>
        <p:nvSpPr>
          <p:cNvPr id="3" name="Content Placeholder 2">
            <a:extLst>
              <a:ext uri="{FF2B5EF4-FFF2-40B4-BE49-F238E27FC236}">
                <a16:creationId xmlns:a16="http://schemas.microsoft.com/office/drawing/2014/main" id="{1DE746D8-C341-CFD3-7CA3-BF6D15FCAC3E}"/>
              </a:ext>
            </a:extLst>
          </p:cNvPr>
          <p:cNvSpPr>
            <a:spLocks noGrp="1"/>
          </p:cNvSpPr>
          <p:nvPr>
            <p:ph idx="1"/>
          </p:nvPr>
        </p:nvSpPr>
        <p:spPr/>
        <p:txBody>
          <a:bodyPr/>
          <a:lstStyle/>
          <a:p>
            <a:r>
              <a:rPr lang="en-US" dirty="0"/>
              <a:t>Feature engineering involves creating new features from raw data or transforming existing ones to improve model performance. Feature processing, on the other hand, focuses on cleaning, transforming, and scaling the data to make it suitable for machine learning algorithms. Essentially, feature engineering aims to create more informative and useful features, while feature processing ensures the data is in a usable format for those features. </a:t>
            </a:r>
          </a:p>
        </p:txBody>
      </p:sp>
    </p:spTree>
    <p:extLst>
      <p:ext uri="{BB962C8B-B14F-4D97-AF65-F5344CB8AC3E}">
        <p14:creationId xmlns:p14="http://schemas.microsoft.com/office/powerpoint/2010/main" val="567265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64864-BC6C-C8F1-7142-8E7FCAC7D4AB}"/>
              </a:ext>
            </a:extLst>
          </p:cNvPr>
          <p:cNvSpPr>
            <a:spLocks noGrp="1"/>
          </p:cNvSpPr>
          <p:nvPr>
            <p:ph type="title"/>
          </p:nvPr>
        </p:nvSpPr>
        <p:spPr/>
        <p:txBody>
          <a:bodyPr/>
          <a:lstStyle/>
          <a:p>
            <a:r>
              <a:rPr lang="en-US" dirty="0"/>
              <a:t>Feature Engineering</a:t>
            </a:r>
          </a:p>
        </p:txBody>
      </p:sp>
      <p:sp>
        <p:nvSpPr>
          <p:cNvPr id="3" name="Content Placeholder 2">
            <a:extLst>
              <a:ext uri="{FF2B5EF4-FFF2-40B4-BE49-F238E27FC236}">
                <a16:creationId xmlns:a16="http://schemas.microsoft.com/office/drawing/2014/main" id="{72125073-E6C6-3632-67EE-0D331E23EA21}"/>
              </a:ext>
            </a:extLst>
          </p:cNvPr>
          <p:cNvSpPr>
            <a:spLocks noGrp="1"/>
          </p:cNvSpPr>
          <p:nvPr>
            <p:ph idx="1"/>
          </p:nvPr>
        </p:nvSpPr>
        <p:spPr/>
        <p:txBody>
          <a:bodyPr>
            <a:normAutofit lnSpcReduction="10000"/>
          </a:bodyPr>
          <a:lstStyle/>
          <a:p>
            <a:pPr fontAlgn="ctr"/>
            <a:r>
              <a:rPr lang="en-US" b="1" dirty="0"/>
              <a:t>Feature Creation:</a:t>
            </a:r>
            <a:r>
              <a:rPr lang="en-US" dirty="0"/>
              <a:t> Generating new variables from existing ones (e.g., creating a "</a:t>
            </a:r>
            <a:r>
              <a:rPr lang="en-US" dirty="0" err="1"/>
              <a:t>total_price</a:t>
            </a:r>
            <a:r>
              <a:rPr lang="en-US" dirty="0"/>
              <a:t>" feature from "quantity" and "</a:t>
            </a:r>
            <a:r>
              <a:rPr lang="en-US" dirty="0" err="1"/>
              <a:t>price_per_unit</a:t>
            </a:r>
            <a:r>
              <a:rPr lang="en-US" dirty="0"/>
              <a:t>"). </a:t>
            </a:r>
          </a:p>
          <a:p>
            <a:pPr fontAlgn="ctr"/>
            <a:r>
              <a:rPr lang="en-US" b="1" dirty="0"/>
              <a:t>Feature Transformation:</a:t>
            </a:r>
            <a:r>
              <a:rPr lang="en-US" dirty="0"/>
              <a:t> Modifying existing features (e.g., scaling numerical features using standardization or normalization). </a:t>
            </a:r>
          </a:p>
          <a:p>
            <a:pPr fontAlgn="ctr"/>
            <a:r>
              <a:rPr lang="en-US" b="1" dirty="0"/>
              <a:t>Feature Extraction:</a:t>
            </a:r>
            <a:r>
              <a:rPr lang="en-US" dirty="0"/>
              <a:t> Reducing the dimensionality of the data by creating new, more informative features (e.g., using Principal Component Analysis (PCA) or Singular Value Decomposition (SVD). </a:t>
            </a:r>
          </a:p>
          <a:p>
            <a:r>
              <a:rPr lang="en-US" b="1" dirty="0"/>
              <a:t>Feature Selection:</a:t>
            </a:r>
            <a:r>
              <a:rPr lang="en-US" dirty="0"/>
              <a:t> Choosing the most relevant features for the model, discarding irrelevant or redundant ones to prevent overfitting and improve performance. </a:t>
            </a:r>
          </a:p>
          <a:p>
            <a:endParaRPr lang="en-US" dirty="0"/>
          </a:p>
        </p:txBody>
      </p:sp>
    </p:spTree>
    <p:extLst>
      <p:ext uri="{BB962C8B-B14F-4D97-AF65-F5344CB8AC3E}">
        <p14:creationId xmlns:p14="http://schemas.microsoft.com/office/powerpoint/2010/main" val="3462275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63423-BDF6-E3CD-F1E7-BD2199B78463}"/>
              </a:ext>
            </a:extLst>
          </p:cNvPr>
          <p:cNvSpPr>
            <a:spLocks noGrp="1"/>
          </p:cNvSpPr>
          <p:nvPr>
            <p:ph type="title"/>
          </p:nvPr>
        </p:nvSpPr>
        <p:spPr/>
        <p:txBody>
          <a:bodyPr/>
          <a:lstStyle/>
          <a:p>
            <a:r>
              <a:rPr lang="en-US" dirty="0"/>
              <a:t>What is Feature Selection</a:t>
            </a:r>
          </a:p>
        </p:txBody>
      </p:sp>
      <p:sp>
        <p:nvSpPr>
          <p:cNvPr id="3" name="Content Placeholder 2">
            <a:extLst>
              <a:ext uri="{FF2B5EF4-FFF2-40B4-BE49-F238E27FC236}">
                <a16:creationId xmlns:a16="http://schemas.microsoft.com/office/drawing/2014/main" id="{61A2B358-4B8F-2662-0B8F-A9FDF1AF33EF}"/>
              </a:ext>
            </a:extLst>
          </p:cNvPr>
          <p:cNvSpPr>
            <a:spLocks noGrp="1"/>
          </p:cNvSpPr>
          <p:nvPr>
            <p:ph idx="1"/>
          </p:nvPr>
        </p:nvSpPr>
        <p:spPr/>
        <p:txBody>
          <a:bodyPr/>
          <a:lstStyle/>
          <a:p>
            <a:r>
              <a:rPr lang="en-US" i="0" dirty="0">
                <a:solidFill>
                  <a:srgbClr val="273239"/>
                </a:solidFill>
                <a:effectLst/>
                <a:latin typeface="Calibri" panose="020F0502020204030204" pitchFamily="34" charset="0"/>
                <a:cs typeface="Calibri" panose="020F0502020204030204" pitchFamily="34" charset="0"/>
              </a:rPr>
              <a:t>“Feature selection is a important step in machine learning which involves selecting a subset of relevant features from the original feature set to reduce the feature space while improving the model’s performance by reducing computational power. </a:t>
            </a:r>
          </a:p>
          <a:p>
            <a:r>
              <a:rPr lang="en-US" i="0" dirty="0">
                <a:solidFill>
                  <a:srgbClr val="273239"/>
                </a:solidFill>
                <a:effectLst/>
                <a:latin typeface="Calibri" panose="020F0502020204030204" pitchFamily="34" charset="0"/>
                <a:cs typeface="Calibri" panose="020F0502020204030204" pitchFamily="34" charset="0"/>
              </a:rPr>
              <a:t>It’s a critical step in the machine learning especially when dealing with high-dimensional data.”</a:t>
            </a:r>
          </a:p>
          <a:p>
            <a:r>
              <a:rPr lang="en-US" dirty="0"/>
              <a:t>Improved Model Performance:</a:t>
            </a:r>
          </a:p>
          <a:p>
            <a:pPr lvl="1"/>
            <a:r>
              <a:rPr lang="en-US" dirty="0"/>
              <a:t>By removing irrelevant or noisy features, you can improve the model's ability to generalize to new, unseen data. </a:t>
            </a: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80405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4BB97-FC46-AA9E-0027-84B561E0AB99}"/>
              </a:ext>
            </a:extLst>
          </p:cNvPr>
          <p:cNvSpPr>
            <a:spLocks noGrp="1"/>
          </p:cNvSpPr>
          <p:nvPr>
            <p:ph type="title"/>
          </p:nvPr>
        </p:nvSpPr>
        <p:spPr/>
        <p:txBody>
          <a:bodyPr/>
          <a:lstStyle/>
          <a:p>
            <a:r>
              <a:rPr lang="en-US" dirty="0"/>
              <a:t>Feature Processing</a:t>
            </a:r>
          </a:p>
        </p:txBody>
      </p:sp>
      <p:sp>
        <p:nvSpPr>
          <p:cNvPr id="3" name="Content Placeholder 2">
            <a:extLst>
              <a:ext uri="{FF2B5EF4-FFF2-40B4-BE49-F238E27FC236}">
                <a16:creationId xmlns:a16="http://schemas.microsoft.com/office/drawing/2014/main" id="{309C5A84-6439-E2DB-CF37-2544FC7DF57F}"/>
              </a:ext>
            </a:extLst>
          </p:cNvPr>
          <p:cNvSpPr>
            <a:spLocks noGrp="1"/>
          </p:cNvSpPr>
          <p:nvPr>
            <p:ph idx="1"/>
          </p:nvPr>
        </p:nvSpPr>
        <p:spPr/>
        <p:txBody>
          <a:bodyPr>
            <a:normAutofit lnSpcReduction="10000"/>
          </a:bodyPr>
          <a:lstStyle/>
          <a:p>
            <a:pPr fontAlgn="ctr"/>
            <a:r>
              <a:rPr lang="en-US" b="1" dirty="0"/>
              <a:t>Handling Missing Values:</a:t>
            </a:r>
            <a:r>
              <a:rPr lang="en-US" dirty="0"/>
              <a:t> Addressing missing data through imputation or removal. </a:t>
            </a:r>
          </a:p>
          <a:p>
            <a:pPr fontAlgn="ctr"/>
            <a:r>
              <a:rPr lang="en-US" b="1" dirty="0"/>
              <a:t>Encoding Categorical Variables:</a:t>
            </a:r>
            <a:r>
              <a:rPr lang="en-US" dirty="0"/>
              <a:t> Converting non-numerical data into numerical format (e.g., one-hot encoding). </a:t>
            </a:r>
          </a:p>
          <a:p>
            <a:pPr fontAlgn="ctr"/>
            <a:r>
              <a:rPr lang="en-US" b="1" dirty="0"/>
              <a:t>Outlier Handling:</a:t>
            </a:r>
            <a:r>
              <a:rPr lang="en-US" dirty="0"/>
              <a:t> Addressing extreme values that can negatively impact model performance. </a:t>
            </a:r>
          </a:p>
          <a:p>
            <a:pPr fontAlgn="ctr"/>
            <a:r>
              <a:rPr lang="en-US" b="1" dirty="0"/>
              <a:t>Scaling Numerical Features:</a:t>
            </a:r>
            <a:r>
              <a:rPr lang="en-US" dirty="0"/>
              <a:t> Ensuring all numerical features have a similar scale (e.g., using standardization or normalization). </a:t>
            </a:r>
          </a:p>
          <a:p>
            <a:pPr marL="0" indent="0">
              <a:buNone/>
            </a:pPr>
            <a:br>
              <a:rPr lang="en-US" dirty="0"/>
            </a:br>
            <a:endParaRPr lang="en-US" dirty="0"/>
          </a:p>
          <a:p>
            <a:endParaRPr lang="en-US" dirty="0"/>
          </a:p>
        </p:txBody>
      </p:sp>
    </p:spTree>
    <p:extLst>
      <p:ext uri="{BB962C8B-B14F-4D97-AF65-F5344CB8AC3E}">
        <p14:creationId xmlns:p14="http://schemas.microsoft.com/office/powerpoint/2010/main" val="49097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62F86-92C4-9965-048F-B4BC2B285EFF}"/>
              </a:ext>
            </a:extLst>
          </p:cNvPr>
          <p:cNvSpPr>
            <a:spLocks noGrp="1"/>
          </p:cNvSpPr>
          <p:nvPr>
            <p:ph type="title"/>
          </p:nvPr>
        </p:nvSpPr>
        <p:spPr/>
        <p:txBody>
          <a:bodyPr/>
          <a:lstStyle/>
          <a:p>
            <a:r>
              <a:rPr lang="en-US" dirty="0"/>
              <a:t>Read Supervised Vs Unsupervised Algorithms</a:t>
            </a:r>
          </a:p>
        </p:txBody>
      </p:sp>
      <p:sp>
        <p:nvSpPr>
          <p:cNvPr id="3" name="Content Placeholder 2">
            <a:extLst>
              <a:ext uri="{FF2B5EF4-FFF2-40B4-BE49-F238E27FC236}">
                <a16:creationId xmlns:a16="http://schemas.microsoft.com/office/drawing/2014/main" id="{EF4AF9A8-55B7-E030-AC48-CD4B106FB8BE}"/>
              </a:ext>
            </a:extLst>
          </p:cNvPr>
          <p:cNvSpPr>
            <a:spLocks noGrp="1"/>
          </p:cNvSpPr>
          <p:nvPr>
            <p:ph idx="1"/>
          </p:nvPr>
        </p:nvSpPr>
        <p:spPr/>
        <p:txBody>
          <a:bodyPr/>
          <a:lstStyle/>
          <a:p>
            <a:r>
              <a:rPr lang="en-US" dirty="0"/>
              <a:t>https://</a:t>
            </a:r>
            <a:r>
              <a:rPr lang="en-US" dirty="0" err="1"/>
              <a:t>www.datacamp.com</a:t>
            </a:r>
            <a:r>
              <a:rPr lang="en-US" dirty="0"/>
              <a:t>/blog/supervised-machine-learning</a:t>
            </a:r>
          </a:p>
        </p:txBody>
      </p:sp>
    </p:spTree>
    <p:extLst>
      <p:ext uri="{BB962C8B-B14F-4D97-AF65-F5344CB8AC3E}">
        <p14:creationId xmlns:p14="http://schemas.microsoft.com/office/powerpoint/2010/main" val="2206929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FC039-262B-A0A9-54A5-4CC344727DA6}"/>
              </a:ext>
            </a:extLst>
          </p:cNvPr>
          <p:cNvSpPr>
            <a:spLocks noGrp="1"/>
          </p:cNvSpPr>
          <p:nvPr>
            <p:ph type="title"/>
          </p:nvPr>
        </p:nvSpPr>
        <p:spPr/>
        <p:txBody>
          <a:bodyPr/>
          <a:lstStyle/>
          <a:p>
            <a:r>
              <a:rPr lang="en-US" dirty="0"/>
              <a:t>Confusion Matrix</a:t>
            </a:r>
          </a:p>
        </p:txBody>
      </p:sp>
      <p:sp>
        <p:nvSpPr>
          <p:cNvPr id="3" name="Content Placeholder 2">
            <a:extLst>
              <a:ext uri="{FF2B5EF4-FFF2-40B4-BE49-F238E27FC236}">
                <a16:creationId xmlns:a16="http://schemas.microsoft.com/office/drawing/2014/main" id="{F0097BE0-9AB4-E29F-A854-FAE2E8289585}"/>
              </a:ext>
            </a:extLst>
          </p:cNvPr>
          <p:cNvSpPr>
            <a:spLocks noGrp="1"/>
          </p:cNvSpPr>
          <p:nvPr>
            <p:ph idx="1"/>
          </p:nvPr>
        </p:nvSpPr>
        <p:spPr/>
        <p:txBody>
          <a:bodyPr/>
          <a:lstStyle/>
          <a:p>
            <a:r>
              <a:rPr lang="en-US" dirty="0"/>
              <a:t>A confusion matrix is a table that summarizes the performance of a classification model by comparing predicted labels to actual labels. </a:t>
            </a:r>
          </a:p>
          <a:p>
            <a:endParaRPr lang="en-US" dirty="0"/>
          </a:p>
        </p:txBody>
      </p:sp>
    </p:spTree>
    <p:extLst>
      <p:ext uri="{BB962C8B-B14F-4D97-AF65-F5344CB8AC3E}">
        <p14:creationId xmlns:p14="http://schemas.microsoft.com/office/powerpoint/2010/main" val="625682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7BF27-DBB0-172B-4514-679F01FB94F0}"/>
              </a:ext>
            </a:extLst>
          </p:cNvPr>
          <p:cNvSpPr>
            <a:spLocks noGrp="1"/>
          </p:cNvSpPr>
          <p:nvPr>
            <p:ph type="title"/>
          </p:nvPr>
        </p:nvSpPr>
        <p:spPr/>
        <p:txBody>
          <a:bodyPr/>
          <a:lstStyle/>
          <a:p>
            <a:r>
              <a:rPr lang="en-US" dirty="0"/>
              <a:t>Confusion Matrix</a:t>
            </a:r>
          </a:p>
        </p:txBody>
      </p:sp>
      <p:pic>
        <p:nvPicPr>
          <p:cNvPr id="5" name="Content Placeholder 4" descr="A table with text and images&#10;&#10;AI-generated content may be incorrect.">
            <a:extLst>
              <a:ext uri="{FF2B5EF4-FFF2-40B4-BE49-F238E27FC236}">
                <a16:creationId xmlns:a16="http://schemas.microsoft.com/office/drawing/2014/main" id="{77448EEC-0F02-32AA-39D6-7CE9A7EA4231}"/>
              </a:ext>
            </a:extLst>
          </p:cNvPr>
          <p:cNvPicPr>
            <a:picLocks noGrp="1" noChangeAspect="1"/>
          </p:cNvPicPr>
          <p:nvPr>
            <p:ph idx="1"/>
          </p:nvPr>
        </p:nvPicPr>
        <p:blipFill>
          <a:blip r:embed="rId2"/>
          <a:stretch>
            <a:fillRect/>
          </a:stretch>
        </p:blipFill>
        <p:spPr>
          <a:xfrm>
            <a:off x="3892550" y="3271044"/>
            <a:ext cx="4406900" cy="1460500"/>
          </a:xfrm>
        </p:spPr>
      </p:pic>
      <p:sp>
        <p:nvSpPr>
          <p:cNvPr id="7" name="TextBox 6">
            <a:extLst>
              <a:ext uri="{FF2B5EF4-FFF2-40B4-BE49-F238E27FC236}">
                <a16:creationId xmlns:a16="http://schemas.microsoft.com/office/drawing/2014/main" id="{917E74A0-72E1-FCB7-B89E-EF596D3BB901}"/>
              </a:ext>
            </a:extLst>
          </p:cNvPr>
          <p:cNvSpPr txBox="1"/>
          <p:nvPr/>
        </p:nvSpPr>
        <p:spPr>
          <a:xfrm>
            <a:off x="3406588" y="5172199"/>
            <a:ext cx="6096000" cy="646331"/>
          </a:xfrm>
          <a:prstGeom prst="rect">
            <a:avLst/>
          </a:prstGeom>
          <a:noFill/>
        </p:spPr>
        <p:txBody>
          <a:bodyPr wrap="square">
            <a:spAutoFit/>
          </a:bodyPr>
          <a:lstStyle/>
          <a:p>
            <a:r>
              <a:rPr lang="en-US" dirty="0"/>
              <a:t>https://</a:t>
            </a:r>
            <a:r>
              <a:rPr lang="en-US" dirty="0" err="1"/>
              <a:t>www.geeksforgeeks.org</a:t>
            </a:r>
            <a:r>
              <a:rPr lang="en-US" dirty="0"/>
              <a:t>/confusion-matrix-machine-learning/</a:t>
            </a:r>
          </a:p>
        </p:txBody>
      </p:sp>
    </p:spTree>
    <p:extLst>
      <p:ext uri="{BB962C8B-B14F-4D97-AF65-F5344CB8AC3E}">
        <p14:creationId xmlns:p14="http://schemas.microsoft.com/office/powerpoint/2010/main" val="329386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E3DFE-7276-04F5-57DF-BA31894FA9EA}"/>
              </a:ext>
            </a:extLst>
          </p:cNvPr>
          <p:cNvSpPr>
            <a:spLocks noGrp="1"/>
          </p:cNvSpPr>
          <p:nvPr>
            <p:ph type="title"/>
          </p:nvPr>
        </p:nvSpPr>
        <p:spPr/>
        <p:txBody>
          <a:bodyPr/>
          <a:lstStyle/>
          <a:p>
            <a:r>
              <a:rPr lang="en-US" dirty="0"/>
              <a:t>Confusion Matrix</a:t>
            </a:r>
          </a:p>
        </p:txBody>
      </p:sp>
      <p:sp>
        <p:nvSpPr>
          <p:cNvPr id="3" name="Content Placeholder 2">
            <a:extLst>
              <a:ext uri="{FF2B5EF4-FFF2-40B4-BE49-F238E27FC236}">
                <a16:creationId xmlns:a16="http://schemas.microsoft.com/office/drawing/2014/main" id="{5D42CED7-BE69-973A-24EF-F178A4E3404A}"/>
              </a:ext>
            </a:extLst>
          </p:cNvPr>
          <p:cNvSpPr>
            <a:spLocks noGrp="1"/>
          </p:cNvSpPr>
          <p:nvPr>
            <p:ph idx="1"/>
          </p:nvPr>
        </p:nvSpPr>
        <p:spPr/>
        <p:txBody>
          <a:bodyPr/>
          <a:lstStyle/>
          <a:p>
            <a:r>
              <a:rPr lang="en-US" dirty="0"/>
              <a:t>Read more </a:t>
            </a:r>
          </a:p>
          <a:p>
            <a:r>
              <a:rPr lang="en-US" dirty="0"/>
              <a:t>https://</a:t>
            </a:r>
            <a:r>
              <a:rPr lang="en-US" dirty="0" err="1"/>
              <a:t>www.geeksforgeeks.org</a:t>
            </a:r>
            <a:r>
              <a:rPr lang="en-US" dirty="0"/>
              <a:t>/confusion-matrix-machine-learning/</a:t>
            </a:r>
          </a:p>
        </p:txBody>
      </p:sp>
    </p:spTree>
    <p:extLst>
      <p:ext uri="{BB962C8B-B14F-4D97-AF65-F5344CB8AC3E}">
        <p14:creationId xmlns:p14="http://schemas.microsoft.com/office/powerpoint/2010/main" val="176826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E1304-2966-4E12-E9E3-FE810D832D7E}"/>
              </a:ext>
            </a:extLst>
          </p:cNvPr>
          <p:cNvSpPr>
            <a:spLocks noGrp="1"/>
          </p:cNvSpPr>
          <p:nvPr>
            <p:ph type="title"/>
          </p:nvPr>
        </p:nvSpPr>
        <p:spPr/>
        <p:txBody>
          <a:bodyPr/>
          <a:lstStyle/>
          <a:p>
            <a:r>
              <a:rPr lang="en-US" dirty="0"/>
              <a:t>Hyperparameter Tuning</a:t>
            </a:r>
          </a:p>
        </p:txBody>
      </p:sp>
      <p:sp>
        <p:nvSpPr>
          <p:cNvPr id="3" name="Content Placeholder 2">
            <a:extLst>
              <a:ext uri="{FF2B5EF4-FFF2-40B4-BE49-F238E27FC236}">
                <a16:creationId xmlns:a16="http://schemas.microsoft.com/office/drawing/2014/main" id="{CA5011CB-3393-CBA8-765B-65E66FFA1881}"/>
              </a:ext>
            </a:extLst>
          </p:cNvPr>
          <p:cNvSpPr>
            <a:spLocks noGrp="1"/>
          </p:cNvSpPr>
          <p:nvPr>
            <p:ph idx="1"/>
          </p:nvPr>
        </p:nvSpPr>
        <p:spPr/>
        <p:txBody>
          <a:bodyPr>
            <a:normAutofit fontScale="55000" lnSpcReduction="20000"/>
          </a:bodyPr>
          <a:lstStyle/>
          <a:p>
            <a:pPr fontAlgn="ctr"/>
            <a:r>
              <a:rPr lang="en-US" dirty="0"/>
              <a:t>Hyperparameters are configuration variables that control the learning process of a machine learning model. </a:t>
            </a:r>
          </a:p>
          <a:p>
            <a:pPr fontAlgn="ctr"/>
            <a:r>
              <a:rPr lang="en-US" dirty="0"/>
              <a:t>Unlike model parameters (like coefficients in a linear model) which are learned from the data, hyperparameters are set by the user before training. </a:t>
            </a:r>
          </a:p>
          <a:p>
            <a:pPr fontAlgn="ctr"/>
            <a:r>
              <a:rPr lang="en-US" dirty="0"/>
              <a:t>Examples of hyperparameters include: </a:t>
            </a:r>
          </a:p>
          <a:p>
            <a:pPr fontAlgn="ctr"/>
            <a:r>
              <a:rPr lang="en-US" dirty="0"/>
              <a:t>Learning rate in neural networks. </a:t>
            </a:r>
          </a:p>
          <a:p>
            <a:pPr fontAlgn="ctr"/>
            <a:r>
              <a:rPr lang="en-US" dirty="0"/>
              <a:t>Number of hidden layers and nodes in a neural network. </a:t>
            </a:r>
          </a:p>
          <a:p>
            <a:pPr fontAlgn="ctr"/>
            <a:r>
              <a:rPr lang="en-US" dirty="0"/>
              <a:t>Regularization parameters (e.g., L1, L2). </a:t>
            </a:r>
          </a:p>
          <a:p>
            <a:pPr fontAlgn="ctr"/>
            <a:r>
              <a:rPr lang="en-US" dirty="0"/>
              <a:t>Batch size in training. </a:t>
            </a:r>
          </a:p>
          <a:p>
            <a:pPr fontAlgn="ctr"/>
            <a:r>
              <a:rPr lang="en-US" dirty="0"/>
              <a:t>Number of trees in a random forest. </a:t>
            </a:r>
          </a:p>
          <a:p>
            <a:r>
              <a:rPr lang="en-US" dirty="0"/>
              <a:t>Why is Hyperparameter Tuning Important?</a:t>
            </a:r>
          </a:p>
          <a:p>
            <a:pPr fontAlgn="ctr"/>
            <a:r>
              <a:rPr lang="en-US" dirty="0"/>
              <a:t>Hyperparameters directly influence how a model learns, its complexity, and its ability to generalize to new data. </a:t>
            </a:r>
          </a:p>
          <a:p>
            <a:pPr fontAlgn="ctr"/>
            <a:r>
              <a:rPr lang="en-US" dirty="0"/>
              <a:t>Finding the right hyperparameter values can significantly improve a model's accuracy, efficiency, and overall performance. </a:t>
            </a:r>
          </a:p>
          <a:p>
            <a:r>
              <a:rPr lang="en-US" dirty="0"/>
              <a:t>Poorly tuned hyperparameters can lead to underfitting (model is too simple) or overfitting (model is too complex). </a:t>
            </a:r>
          </a:p>
          <a:p>
            <a:endParaRPr lang="en-US" dirty="0"/>
          </a:p>
        </p:txBody>
      </p:sp>
    </p:spTree>
    <p:extLst>
      <p:ext uri="{BB962C8B-B14F-4D97-AF65-F5344CB8AC3E}">
        <p14:creationId xmlns:p14="http://schemas.microsoft.com/office/powerpoint/2010/main" val="1343976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49736-98C2-CEB7-DFDA-D2765297F420}"/>
              </a:ext>
            </a:extLst>
          </p:cNvPr>
          <p:cNvSpPr>
            <a:spLocks noGrp="1"/>
          </p:cNvSpPr>
          <p:nvPr>
            <p:ph type="title"/>
          </p:nvPr>
        </p:nvSpPr>
        <p:spPr/>
        <p:txBody>
          <a:bodyPr/>
          <a:lstStyle/>
          <a:p>
            <a:r>
              <a:rPr lang="en-US" dirty="0"/>
              <a:t>Hyperparameter Tuning</a:t>
            </a:r>
          </a:p>
        </p:txBody>
      </p:sp>
      <p:sp>
        <p:nvSpPr>
          <p:cNvPr id="3" name="Content Placeholder 2">
            <a:extLst>
              <a:ext uri="{FF2B5EF4-FFF2-40B4-BE49-F238E27FC236}">
                <a16:creationId xmlns:a16="http://schemas.microsoft.com/office/drawing/2014/main" id="{EF6F933D-ECEA-43C0-E70A-70A52AB2925E}"/>
              </a:ext>
            </a:extLst>
          </p:cNvPr>
          <p:cNvSpPr>
            <a:spLocks noGrp="1"/>
          </p:cNvSpPr>
          <p:nvPr>
            <p:ph idx="1"/>
          </p:nvPr>
        </p:nvSpPr>
        <p:spPr/>
        <p:txBody>
          <a:bodyPr>
            <a:normAutofit fontScale="92500" lnSpcReduction="10000"/>
          </a:bodyPr>
          <a:lstStyle/>
          <a:p>
            <a:r>
              <a:rPr lang="en-US" dirty="0"/>
              <a:t>Hyperparameters are configuration variables that control the learning process of a machine learning model </a:t>
            </a:r>
          </a:p>
          <a:p>
            <a:r>
              <a:rPr lang="en-US" dirty="0"/>
              <a:t>Hyperparameters are set by the user before training </a:t>
            </a:r>
          </a:p>
          <a:p>
            <a:r>
              <a:rPr lang="en-US" dirty="0"/>
              <a:t>Examples of hyperparameters </a:t>
            </a:r>
          </a:p>
          <a:p>
            <a:pPr lvl="1"/>
            <a:r>
              <a:rPr lang="en-US" dirty="0"/>
              <a:t>Batch size in training </a:t>
            </a:r>
          </a:p>
          <a:p>
            <a:pPr lvl="1"/>
            <a:r>
              <a:rPr lang="en-US" dirty="0"/>
              <a:t>Number of trees in a random forest</a:t>
            </a:r>
          </a:p>
          <a:p>
            <a:r>
              <a:rPr lang="en-US" dirty="0"/>
              <a:t>Hyperparameters directly influence how a model learns, its complexity, and its ability to generate new data</a:t>
            </a:r>
          </a:p>
          <a:p>
            <a:pPr lvl="1"/>
            <a:r>
              <a:rPr lang="en-US" dirty="0"/>
              <a:t>Finding the right hyperparameter values can significantly improve a model’s accuracy, efficiency, and overall performance. </a:t>
            </a:r>
          </a:p>
          <a:p>
            <a:pPr lvl="1"/>
            <a:r>
              <a:rPr lang="en-US" dirty="0"/>
              <a:t>Models that are not hyper tuned well can lead to underfitting (model that is too simple) or overfitting (model that is </a:t>
            </a:r>
            <a:r>
              <a:rPr lang="en-US"/>
              <a:t>too complex) </a:t>
            </a:r>
            <a:endParaRPr lang="en-US" dirty="0"/>
          </a:p>
          <a:p>
            <a:pPr lvl="1"/>
            <a:endParaRPr lang="en-US" dirty="0"/>
          </a:p>
        </p:txBody>
      </p:sp>
    </p:spTree>
    <p:extLst>
      <p:ext uri="{BB962C8B-B14F-4D97-AF65-F5344CB8AC3E}">
        <p14:creationId xmlns:p14="http://schemas.microsoft.com/office/powerpoint/2010/main" val="2606208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1F6F2-261D-491B-C5E0-10CA131C73B3}"/>
            </a:ext>
          </a:extLst>
        </p:cNvPr>
        <p:cNvGrpSpPr/>
        <p:nvPr/>
      </p:nvGrpSpPr>
      <p:grpSpPr>
        <a:xfrm>
          <a:off x="0" y="0"/>
          <a:ext cx="0" cy="0"/>
          <a:chOff x="0" y="0"/>
          <a:chExt cx="0" cy="0"/>
        </a:xfrm>
      </p:grpSpPr>
      <p:pic>
        <p:nvPicPr>
          <p:cNvPr id="7" name="Content Placeholder 6" descr="A close-up of a logo&#10;&#10;Description automatically generated">
            <a:extLst>
              <a:ext uri="{FF2B5EF4-FFF2-40B4-BE49-F238E27FC236}">
                <a16:creationId xmlns:a16="http://schemas.microsoft.com/office/drawing/2014/main" id="{FB351B36-1391-0EB0-72B5-BD501480AE12}"/>
              </a:ext>
            </a:extLst>
          </p:cNvPr>
          <p:cNvPicPr>
            <a:picLocks noGrp="1" noChangeAspect="1"/>
          </p:cNvPicPr>
          <p:nvPr>
            <p:ph idx="1"/>
          </p:nvPr>
        </p:nvPicPr>
        <p:blipFill>
          <a:blip r:embed="rId3"/>
          <a:stretch>
            <a:fillRect/>
          </a:stretch>
        </p:blipFill>
        <p:spPr>
          <a:xfrm>
            <a:off x="3966156" y="2674961"/>
            <a:ext cx="5137279" cy="1727994"/>
          </a:xfrm>
        </p:spPr>
      </p:pic>
    </p:spTree>
    <p:extLst>
      <p:ext uri="{BB962C8B-B14F-4D97-AF65-F5344CB8AC3E}">
        <p14:creationId xmlns:p14="http://schemas.microsoft.com/office/powerpoint/2010/main" val="151120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CS_Teaching_template" id="{CFCF3D33-A8D3-4A53-BDE7-E8F15A62020D}" vid="{66400989-E814-4413-8970-E1F17D40617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BE1CFB7B48E4C4EBE0F183093721927" ma:contentTypeVersion="14" ma:contentTypeDescription="Create a new document." ma:contentTypeScope="" ma:versionID="3835522acb197757f89a0baaf0a17347">
  <xsd:schema xmlns:xsd="http://www.w3.org/2001/XMLSchema" xmlns:xs="http://www.w3.org/2001/XMLSchema" xmlns:p="http://schemas.microsoft.com/office/2006/metadata/properties" xmlns:ns3="e3958ab0-593c-4210-a393-e6c3af803406" xmlns:ns4="30a827e8-8e18-4490-890c-b0f1a84cc16a" targetNamespace="http://schemas.microsoft.com/office/2006/metadata/properties" ma:root="true" ma:fieldsID="47f2fccef47dc125ce9626d18fc3d0cb" ns3:_="" ns4:_="">
    <xsd:import namespace="e3958ab0-593c-4210-a393-e6c3af803406"/>
    <xsd:import namespace="30a827e8-8e18-4490-890c-b0f1a84cc16a"/>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958ab0-593c-4210-a393-e6c3af8034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0a827e8-8e18-4490-890c-b0f1a84cc16a"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4423D1-D259-4F55-8D3A-D9E9EE2A2766}">
  <ds:schemaRefs>
    <ds:schemaRef ds:uri="http://schemas.microsoft.com/sharepoint/v3/contenttype/forms"/>
  </ds:schemaRefs>
</ds:datastoreItem>
</file>

<file path=customXml/itemProps2.xml><?xml version="1.0" encoding="utf-8"?>
<ds:datastoreItem xmlns:ds="http://schemas.openxmlformats.org/officeDocument/2006/customXml" ds:itemID="{E846BB09-3B0A-45E5-AD96-0D3311046476}">
  <ds:schemaRefs>
    <ds:schemaRef ds:uri="http://purl.org/dc/elements/1.1/"/>
    <ds:schemaRef ds:uri="http://purl.org/dc/dcmitype/"/>
    <ds:schemaRef ds:uri="30a827e8-8e18-4490-890c-b0f1a84cc16a"/>
    <ds:schemaRef ds:uri="http://schemas.microsoft.com/office/2006/metadata/properties"/>
    <ds:schemaRef ds:uri="http://schemas.microsoft.com/office/infopath/2007/PartnerControls"/>
    <ds:schemaRef ds:uri="http://schemas.microsoft.com/office/2006/documentManagement/types"/>
    <ds:schemaRef ds:uri="http://www.w3.org/XML/1998/namespace"/>
    <ds:schemaRef ds:uri="http://schemas.openxmlformats.org/package/2006/metadata/core-properties"/>
    <ds:schemaRef ds:uri="e3958ab0-593c-4210-a393-e6c3af803406"/>
    <ds:schemaRef ds:uri="http://purl.org/dc/terms/"/>
  </ds:schemaRefs>
</ds:datastoreItem>
</file>

<file path=customXml/itemProps3.xml><?xml version="1.0" encoding="utf-8"?>
<ds:datastoreItem xmlns:ds="http://schemas.openxmlformats.org/officeDocument/2006/customXml" ds:itemID="{5AD01080-5C0F-4278-B705-F48BAAD5BC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958ab0-593c-4210-a393-e6c3af803406"/>
    <ds:schemaRef ds:uri="30a827e8-8e18-4490-890c-b0f1a84cc16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SACS_Teaching_template</Template>
  <TotalTime>31878</TotalTime>
  <Words>1365</Words>
  <Application>Microsoft Macintosh PowerPoint</Application>
  <PresentationFormat>Widescreen</PresentationFormat>
  <Paragraphs>82</Paragraphs>
  <Slides>21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Inter</vt:lpstr>
      <vt:lpstr>Nunito</vt:lpstr>
      <vt:lpstr>source-serif-pro</vt:lpstr>
      <vt:lpstr>Office Theme</vt:lpstr>
      <vt:lpstr>Algorithms and Machine Learning</vt:lpstr>
      <vt:lpstr>Supervised Learning</vt:lpstr>
      <vt:lpstr>Unsupervised Learning</vt:lpstr>
      <vt:lpstr>What is Decision Tree</vt:lpstr>
      <vt:lpstr>What is Random Forest</vt:lpstr>
      <vt:lpstr>What is Logistic Regression</vt:lpstr>
      <vt:lpstr>What is Ensemble Learning</vt:lpstr>
      <vt:lpstr>Preprocessing</vt:lpstr>
      <vt:lpstr>Preprocessing</vt:lpstr>
      <vt:lpstr>Data preprocessing steps </vt:lpstr>
      <vt:lpstr>Feature Engineering</vt:lpstr>
      <vt:lpstr>Feature Engineering</vt:lpstr>
      <vt:lpstr>What is Feature Selection</vt:lpstr>
      <vt:lpstr>Feature Processing</vt:lpstr>
      <vt:lpstr>Read Supervised Vs Unsupervised Algorithms</vt:lpstr>
      <vt:lpstr>Confusion Matrix</vt:lpstr>
      <vt:lpstr>Confusion Matrix</vt:lpstr>
      <vt:lpstr>Confusion Matrix</vt:lpstr>
      <vt:lpstr>Hyperparameter Tuning</vt:lpstr>
      <vt:lpstr>Hyperparameter Tuning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 Arial Bold for main headline, size according to title length, set flush left.</dc:title>
  <dc:creator>Gupta, Vibhuti</dc:creator>
  <cp:lastModifiedBy>Muallem, Asmah</cp:lastModifiedBy>
  <cp:revision>259</cp:revision>
  <dcterms:created xsi:type="dcterms:W3CDTF">2022-03-15T15:16:02Z</dcterms:created>
  <dcterms:modified xsi:type="dcterms:W3CDTF">2025-07-02T23:59:05Z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0x0101006BE1CFB7B48E4C4EBE0F183093721927</vt:lpwstr>
  </property>
</Properties>
</file>
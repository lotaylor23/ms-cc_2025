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388" r:id="rId5"/>
    <p:sldId id="1019" r:id="rId6"/>
    <p:sldId id="1020" r:id="rId7"/>
    <p:sldId id="1021" r:id="rId8"/>
    <p:sldId id="1022" r:id="rId9"/>
    <p:sldId id="1023" r:id="rId10"/>
    <p:sldId id="1024" r:id="rId11"/>
    <p:sldId id="1025" r:id="rId12"/>
    <p:sldId id="1026" r:id="rId13"/>
    <p:sldId id="1027" r:id="rId14"/>
    <p:sldId id="41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1A42"/>
    <a:srgbClr val="FAB92F"/>
    <a:srgbClr val="7B114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69" autoAdjust="0"/>
    <p:restoredTop sz="79924" autoAdjust="0"/>
  </p:normalViewPr>
  <p:slideViewPr>
    <p:cSldViewPr snapToGrid="0" snapToObjects="1">
      <p:cViewPr varScale="1">
        <p:scale>
          <a:sx n="115" d="100"/>
          <a:sy n="115" d="100"/>
        </p:scale>
        <p:origin x="216" y="90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90" d="100"/>
          <a:sy n="90" d="100"/>
        </p:scale>
        <p:origin x="3960"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7239CD-11F9-4918-9CB8-A7B7EF286230}" type="datetimeFigureOut">
              <a:rPr lang="en-US" smtClean="0"/>
              <a:t>7/16/25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BA6B9A-231B-4557-80D9-4035CB160C23}" type="slidenum">
              <a:rPr lang="en-US" smtClean="0"/>
              <a:t>‹#›</a:t>
            </a:fld>
            <a:endParaRPr lang="en-US"/>
          </a:p>
        </p:txBody>
      </p:sp>
    </p:spTree>
    <p:extLst>
      <p:ext uri="{BB962C8B-B14F-4D97-AF65-F5344CB8AC3E}">
        <p14:creationId xmlns:p14="http://schemas.microsoft.com/office/powerpoint/2010/main" val="1960761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4F87AF0-3F8B-47FC-A4A5-B1CBDA9978AD}" type="slidenum">
              <a:rPr lang="en-US" smtClean="0"/>
              <a:t>1</a:t>
            </a:fld>
            <a:endParaRPr lang="en-US"/>
          </a:p>
        </p:txBody>
      </p:sp>
    </p:spTree>
    <p:extLst>
      <p:ext uri="{BB962C8B-B14F-4D97-AF65-F5344CB8AC3E}">
        <p14:creationId xmlns:p14="http://schemas.microsoft.com/office/powerpoint/2010/main" val="2961055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CF635-825B-F845-11B1-BD6974056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B4197-7D85-C212-2440-0D98119FD0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01F4B-864A-75D5-9187-95E8444197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C3E0AA-E0FB-BC12-739D-563A48134804}"/>
              </a:ext>
            </a:extLst>
          </p:cNvPr>
          <p:cNvSpPr>
            <a:spLocks noGrp="1"/>
          </p:cNvSpPr>
          <p:nvPr>
            <p:ph type="sldNum" sz="quarter" idx="5"/>
          </p:nvPr>
        </p:nvSpPr>
        <p:spPr/>
        <p:txBody>
          <a:bodyPr/>
          <a:lstStyle/>
          <a:p>
            <a:fld id="{70BA6B9A-231B-4557-80D9-4035CB160C23}" type="slidenum">
              <a:rPr lang="en-US" smtClean="0"/>
              <a:t>11</a:t>
            </a:fld>
            <a:endParaRPr lang="en-US"/>
          </a:p>
        </p:txBody>
      </p:sp>
    </p:spTree>
    <p:extLst>
      <p:ext uri="{BB962C8B-B14F-4D97-AF65-F5344CB8AC3E}">
        <p14:creationId xmlns:p14="http://schemas.microsoft.com/office/powerpoint/2010/main" val="14103750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97069-AFB8-414F-9B14-4BFE3603FB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AEC335-CB7B-E84D-814A-A900E733EE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C8E45A-C170-7348-8076-11B191BE3621}"/>
              </a:ext>
            </a:extLst>
          </p:cNvPr>
          <p:cNvSpPr>
            <a:spLocks noGrp="1"/>
          </p:cNvSpPr>
          <p:nvPr>
            <p:ph type="dt" sz="half" idx="10"/>
          </p:nvPr>
        </p:nvSpPr>
        <p:spPr/>
        <p:txBody>
          <a:bodyPr/>
          <a:lstStyle/>
          <a:p>
            <a:fld id="{004EBD3A-4CD1-5440-8997-2B213668CD8A}" type="datetimeFigureOut">
              <a:rPr lang="en-US" smtClean="0"/>
              <a:t>7/16/25</a:t>
            </a:fld>
            <a:endParaRPr lang="en-US"/>
          </a:p>
        </p:txBody>
      </p:sp>
      <p:sp>
        <p:nvSpPr>
          <p:cNvPr id="5" name="Footer Placeholder 4">
            <a:extLst>
              <a:ext uri="{FF2B5EF4-FFF2-40B4-BE49-F238E27FC236}">
                <a16:creationId xmlns:a16="http://schemas.microsoft.com/office/drawing/2014/main" id="{4BC44B1B-CF2D-184E-9B16-96D8DEA3B3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7E8D7E-3F80-A849-874A-3344B2B613B6}"/>
              </a:ext>
            </a:extLst>
          </p:cNvPr>
          <p:cNvSpPr>
            <a:spLocks noGrp="1"/>
          </p:cNvSpPr>
          <p:nvPr>
            <p:ph type="sldNum" sz="quarter" idx="12"/>
          </p:nvPr>
        </p:nvSpPr>
        <p:spPr/>
        <p:txBody>
          <a:bodyPr/>
          <a:lstStyle/>
          <a:p>
            <a:fld id="{DAF0FC8E-D3C0-0D4C-8608-74EBA918F088}" type="slidenum">
              <a:rPr lang="en-US" smtClean="0"/>
              <a:t>‹#›</a:t>
            </a:fld>
            <a:endParaRPr lang="en-US"/>
          </a:p>
        </p:txBody>
      </p:sp>
      <p:pic>
        <p:nvPicPr>
          <p:cNvPr id="7" name="Picture 6">
            <a:extLst>
              <a:ext uri="{FF2B5EF4-FFF2-40B4-BE49-F238E27FC236}">
                <a16:creationId xmlns:a16="http://schemas.microsoft.com/office/drawing/2014/main" id="{2C48E7AB-7CB9-5644-4FCE-43440B6F75CC}"/>
              </a:ext>
            </a:extLst>
          </p:cNvPr>
          <p:cNvPicPr>
            <a:picLocks noChangeAspect="1"/>
          </p:cNvPicPr>
          <p:nvPr userDrawn="1"/>
        </p:nvPicPr>
        <p:blipFill>
          <a:blip r:embed="rId2"/>
          <a:stretch>
            <a:fillRect/>
          </a:stretch>
        </p:blipFill>
        <p:spPr>
          <a:xfrm>
            <a:off x="0" y="6400686"/>
            <a:ext cx="12192000" cy="457314"/>
          </a:xfrm>
          <a:prstGeom prst="rect">
            <a:avLst/>
          </a:prstGeom>
        </p:spPr>
      </p:pic>
      <p:pic>
        <p:nvPicPr>
          <p:cNvPr id="8" name="Picture 7">
            <a:extLst>
              <a:ext uri="{FF2B5EF4-FFF2-40B4-BE49-F238E27FC236}">
                <a16:creationId xmlns:a16="http://schemas.microsoft.com/office/drawing/2014/main" id="{C4998472-5642-4F57-CE84-E324E2676890}"/>
              </a:ext>
            </a:extLst>
          </p:cNvPr>
          <p:cNvPicPr>
            <a:picLocks noChangeAspect="1"/>
          </p:cNvPicPr>
          <p:nvPr userDrawn="1"/>
        </p:nvPicPr>
        <p:blipFill>
          <a:blip r:embed="rId3"/>
          <a:stretch>
            <a:fillRect/>
          </a:stretch>
        </p:blipFill>
        <p:spPr>
          <a:xfrm>
            <a:off x="11156735" y="5837375"/>
            <a:ext cx="892835" cy="892835"/>
          </a:xfrm>
          <a:prstGeom prst="rect">
            <a:avLst/>
          </a:prstGeom>
        </p:spPr>
      </p:pic>
    </p:spTree>
    <p:extLst>
      <p:ext uri="{BB962C8B-B14F-4D97-AF65-F5344CB8AC3E}">
        <p14:creationId xmlns:p14="http://schemas.microsoft.com/office/powerpoint/2010/main" val="2406470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D1D1B-3DFB-7B44-B904-AFD5803589E2}"/>
              </a:ext>
            </a:extLst>
          </p:cNvPr>
          <p:cNvSpPr>
            <a:spLocks noGrp="1"/>
          </p:cNvSpPr>
          <p:nvPr>
            <p:ph type="title"/>
          </p:nvPr>
        </p:nvSpPr>
        <p:spPr>
          <a:xfrm>
            <a:off x="838200" y="136525"/>
            <a:ext cx="10515600" cy="846241"/>
          </a:xfrm>
          <a:solidFill>
            <a:srgbClr val="7B1142"/>
          </a:solidFill>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0AD490B-83A2-D848-BC71-3AE72FE762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75378C-A980-3045-BB1A-2A02640C9618}"/>
              </a:ext>
            </a:extLst>
          </p:cNvPr>
          <p:cNvSpPr>
            <a:spLocks noGrp="1"/>
          </p:cNvSpPr>
          <p:nvPr>
            <p:ph type="dt" sz="half" idx="10"/>
          </p:nvPr>
        </p:nvSpPr>
        <p:spPr/>
        <p:txBody>
          <a:bodyPr/>
          <a:lstStyle/>
          <a:p>
            <a:fld id="{004EBD3A-4CD1-5440-8997-2B213668CD8A}" type="datetimeFigureOut">
              <a:rPr lang="en-US" smtClean="0"/>
              <a:t>7/16/25</a:t>
            </a:fld>
            <a:endParaRPr lang="en-US"/>
          </a:p>
        </p:txBody>
      </p:sp>
      <p:sp>
        <p:nvSpPr>
          <p:cNvPr id="5" name="Footer Placeholder 4">
            <a:extLst>
              <a:ext uri="{FF2B5EF4-FFF2-40B4-BE49-F238E27FC236}">
                <a16:creationId xmlns:a16="http://schemas.microsoft.com/office/drawing/2014/main" id="{1CC325E8-453C-D549-AD9F-273BBB10B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9151C-3B30-574E-BE20-7157C326FF34}"/>
              </a:ext>
            </a:extLst>
          </p:cNvPr>
          <p:cNvSpPr>
            <a:spLocks noGrp="1"/>
          </p:cNvSpPr>
          <p:nvPr>
            <p:ph type="sldNum" sz="quarter" idx="12"/>
          </p:nvPr>
        </p:nvSpPr>
        <p:spPr/>
        <p:txBody>
          <a:bodyPr/>
          <a:lstStyle/>
          <a:p>
            <a:fld id="{DAF0FC8E-D3C0-0D4C-8608-74EBA918F088}" type="slidenum">
              <a:rPr lang="en-US" smtClean="0"/>
              <a:t>‹#›</a:t>
            </a:fld>
            <a:endParaRPr lang="en-US"/>
          </a:p>
        </p:txBody>
      </p:sp>
      <p:pic>
        <p:nvPicPr>
          <p:cNvPr id="7" name="Picture 6">
            <a:extLst>
              <a:ext uri="{FF2B5EF4-FFF2-40B4-BE49-F238E27FC236}">
                <a16:creationId xmlns:a16="http://schemas.microsoft.com/office/drawing/2014/main" id="{56EEC0F3-C7C0-33C5-2356-79BD0766B180}"/>
              </a:ext>
            </a:extLst>
          </p:cNvPr>
          <p:cNvPicPr>
            <a:picLocks noChangeAspect="1"/>
          </p:cNvPicPr>
          <p:nvPr userDrawn="1"/>
        </p:nvPicPr>
        <p:blipFill>
          <a:blip r:embed="rId2"/>
          <a:stretch>
            <a:fillRect/>
          </a:stretch>
        </p:blipFill>
        <p:spPr>
          <a:xfrm>
            <a:off x="0" y="6400686"/>
            <a:ext cx="12192000" cy="457314"/>
          </a:xfrm>
          <a:prstGeom prst="rect">
            <a:avLst/>
          </a:prstGeom>
        </p:spPr>
      </p:pic>
      <p:pic>
        <p:nvPicPr>
          <p:cNvPr id="8" name="Picture 7">
            <a:extLst>
              <a:ext uri="{FF2B5EF4-FFF2-40B4-BE49-F238E27FC236}">
                <a16:creationId xmlns:a16="http://schemas.microsoft.com/office/drawing/2014/main" id="{FF517087-EDDE-A63E-87F3-76553A317634}"/>
              </a:ext>
            </a:extLst>
          </p:cNvPr>
          <p:cNvPicPr>
            <a:picLocks noChangeAspect="1"/>
          </p:cNvPicPr>
          <p:nvPr userDrawn="1"/>
        </p:nvPicPr>
        <p:blipFill>
          <a:blip r:embed="rId3"/>
          <a:stretch>
            <a:fillRect/>
          </a:stretch>
        </p:blipFill>
        <p:spPr>
          <a:xfrm>
            <a:off x="11156735" y="5837375"/>
            <a:ext cx="892835" cy="892835"/>
          </a:xfrm>
          <a:prstGeom prst="rect">
            <a:avLst/>
          </a:prstGeom>
        </p:spPr>
      </p:pic>
    </p:spTree>
    <p:extLst>
      <p:ext uri="{BB962C8B-B14F-4D97-AF65-F5344CB8AC3E}">
        <p14:creationId xmlns:p14="http://schemas.microsoft.com/office/powerpoint/2010/main" val="1442588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19AB8-EDA3-964E-981E-57301EC106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635D8F-41F0-5447-A96E-5BC7AF78C9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6A7154-BC1A-D147-A347-445AED8B41FE}"/>
              </a:ext>
            </a:extLst>
          </p:cNvPr>
          <p:cNvSpPr>
            <a:spLocks noGrp="1"/>
          </p:cNvSpPr>
          <p:nvPr>
            <p:ph type="dt" sz="half" idx="10"/>
          </p:nvPr>
        </p:nvSpPr>
        <p:spPr/>
        <p:txBody>
          <a:bodyPr/>
          <a:lstStyle/>
          <a:p>
            <a:fld id="{004EBD3A-4CD1-5440-8997-2B213668CD8A}" type="datetimeFigureOut">
              <a:rPr lang="en-US" smtClean="0"/>
              <a:t>7/16/25</a:t>
            </a:fld>
            <a:endParaRPr lang="en-US"/>
          </a:p>
        </p:txBody>
      </p:sp>
      <p:sp>
        <p:nvSpPr>
          <p:cNvPr id="5" name="Footer Placeholder 4">
            <a:extLst>
              <a:ext uri="{FF2B5EF4-FFF2-40B4-BE49-F238E27FC236}">
                <a16:creationId xmlns:a16="http://schemas.microsoft.com/office/drawing/2014/main" id="{0635C377-C72A-4447-8C8F-1AB75D17EE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02BCA3-A816-7742-8F19-9B2452BB062C}"/>
              </a:ext>
            </a:extLst>
          </p:cNvPr>
          <p:cNvSpPr>
            <a:spLocks noGrp="1"/>
          </p:cNvSpPr>
          <p:nvPr>
            <p:ph type="sldNum" sz="quarter" idx="12"/>
          </p:nvPr>
        </p:nvSpPr>
        <p:spPr/>
        <p:txBody>
          <a:bodyPr/>
          <a:lstStyle/>
          <a:p>
            <a:fld id="{DAF0FC8E-D3C0-0D4C-8608-74EBA918F088}" type="slidenum">
              <a:rPr lang="en-US" smtClean="0"/>
              <a:t>‹#›</a:t>
            </a:fld>
            <a:endParaRPr lang="en-US"/>
          </a:p>
        </p:txBody>
      </p:sp>
    </p:spTree>
    <p:extLst>
      <p:ext uri="{BB962C8B-B14F-4D97-AF65-F5344CB8AC3E}">
        <p14:creationId xmlns:p14="http://schemas.microsoft.com/office/powerpoint/2010/main" val="691428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E2004-4E40-6E4F-B646-3A02871745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EC6330-032F-7941-8E41-A7BEF844B5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41C29E-4B42-C247-BABC-7DFC1B65E0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DE1190-FD81-4146-B9A0-DDEC02B13E95}"/>
              </a:ext>
            </a:extLst>
          </p:cNvPr>
          <p:cNvSpPr>
            <a:spLocks noGrp="1"/>
          </p:cNvSpPr>
          <p:nvPr>
            <p:ph type="dt" sz="half" idx="10"/>
          </p:nvPr>
        </p:nvSpPr>
        <p:spPr/>
        <p:txBody>
          <a:bodyPr/>
          <a:lstStyle/>
          <a:p>
            <a:fld id="{004EBD3A-4CD1-5440-8997-2B213668CD8A}" type="datetimeFigureOut">
              <a:rPr lang="en-US" smtClean="0"/>
              <a:t>7/16/25</a:t>
            </a:fld>
            <a:endParaRPr lang="en-US"/>
          </a:p>
        </p:txBody>
      </p:sp>
      <p:sp>
        <p:nvSpPr>
          <p:cNvPr id="6" name="Footer Placeholder 5">
            <a:extLst>
              <a:ext uri="{FF2B5EF4-FFF2-40B4-BE49-F238E27FC236}">
                <a16:creationId xmlns:a16="http://schemas.microsoft.com/office/drawing/2014/main" id="{1FC8DF9E-D97B-6E4B-ACB5-13168C04FC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81F6EE-EAB4-FD47-B341-A3D515A85F56}"/>
              </a:ext>
            </a:extLst>
          </p:cNvPr>
          <p:cNvSpPr>
            <a:spLocks noGrp="1"/>
          </p:cNvSpPr>
          <p:nvPr>
            <p:ph type="sldNum" sz="quarter" idx="12"/>
          </p:nvPr>
        </p:nvSpPr>
        <p:spPr/>
        <p:txBody>
          <a:bodyPr/>
          <a:lstStyle/>
          <a:p>
            <a:fld id="{DAF0FC8E-D3C0-0D4C-8608-74EBA918F088}" type="slidenum">
              <a:rPr lang="en-US" smtClean="0"/>
              <a:t>‹#›</a:t>
            </a:fld>
            <a:endParaRPr lang="en-US"/>
          </a:p>
        </p:txBody>
      </p:sp>
    </p:spTree>
    <p:extLst>
      <p:ext uri="{BB962C8B-B14F-4D97-AF65-F5344CB8AC3E}">
        <p14:creationId xmlns:p14="http://schemas.microsoft.com/office/powerpoint/2010/main" val="3487204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7455C-045B-EF4E-B34E-A8720BCA66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6043A9-88B8-D949-8155-2DEC7E289A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D25713-ADFB-B548-879C-4A4D85B46A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E695CC-8B5B-9542-948D-5AFB8F7045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485DE2-EEC5-354C-B958-2FD18DCEE2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383700-1E03-3F41-8D96-62C19EA1409F}"/>
              </a:ext>
            </a:extLst>
          </p:cNvPr>
          <p:cNvSpPr>
            <a:spLocks noGrp="1"/>
          </p:cNvSpPr>
          <p:nvPr>
            <p:ph type="dt" sz="half" idx="10"/>
          </p:nvPr>
        </p:nvSpPr>
        <p:spPr/>
        <p:txBody>
          <a:bodyPr/>
          <a:lstStyle/>
          <a:p>
            <a:fld id="{004EBD3A-4CD1-5440-8997-2B213668CD8A}" type="datetimeFigureOut">
              <a:rPr lang="en-US" smtClean="0"/>
              <a:t>7/16/25</a:t>
            </a:fld>
            <a:endParaRPr lang="en-US"/>
          </a:p>
        </p:txBody>
      </p:sp>
      <p:sp>
        <p:nvSpPr>
          <p:cNvPr id="8" name="Footer Placeholder 7">
            <a:extLst>
              <a:ext uri="{FF2B5EF4-FFF2-40B4-BE49-F238E27FC236}">
                <a16:creationId xmlns:a16="http://schemas.microsoft.com/office/drawing/2014/main" id="{DEBED341-982E-5044-93AE-D0BB7D0ED7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1A8BDB-7529-6445-BB63-61BF480BF12B}"/>
              </a:ext>
            </a:extLst>
          </p:cNvPr>
          <p:cNvSpPr>
            <a:spLocks noGrp="1"/>
          </p:cNvSpPr>
          <p:nvPr>
            <p:ph type="sldNum" sz="quarter" idx="12"/>
          </p:nvPr>
        </p:nvSpPr>
        <p:spPr/>
        <p:txBody>
          <a:bodyPr/>
          <a:lstStyle/>
          <a:p>
            <a:fld id="{DAF0FC8E-D3C0-0D4C-8608-74EBA918F088}" type="slidenum">
              <a:rPr lang="en-US" smtClean="0"/>
              <a:t>‹#›</a:t>
            </a:fld>
            <a:endParaRPr lang="en-US"/>
          </a:p>
        </p:txBody>
      </p:sp>
    </p:spTree>
    <p:extLst>
      <p:ext uri="{BB962C8B-B14F-4D97-AF65-F5344CB8AC3E}">
        <p14:creationId xmlns:p14="http://schemas.microsoft.com/office/powerpoint/2010/main" val="1063609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BEFDA-66BE-FA4B-9B99-0C21D63D853E}"/>
              </a:ext>
            </a:extLst>
          </p:cNvPr>
          <p:cNvSpPr>
            <a:spLocks noGrp="1"/>
          </p:cNvSpPr>
          <p:nvPr>
            <p:ph type="title"/>
          </p:nvPr>
        </p:nvSpPr>
        <p:spPr>
          <a:xfrm>
            <a:off x="428001" y="245485"/>
            <a:ext cx="10515600" cy="668916"/>
          </a:xfrm>
          <a:solidFill>
            <a:srgbClr val="7B1142"/>
          </a:solidFill>
        </p:spPr>
        <p:txBody>
          <a:bodyPr/>
          <a:lstStyle>
            <a:lvl1pPr>
              <a:defRPr>
                <a:solidFill>
                  <a:schemeClr val="bg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A2A31A52-6C63-274F-91FB-DBAE26290614}"/>
              </a:ext>
            </a:extLst>
          </p:cNvPr>
          <p:cNvSpPr>
            <a:spLocks noGrp="1"/>
          </p:cNvSpPr>
          <p:nvPr>
            <p:ph type="dt" sz="half" idx="10"/>
          </p:nvPr>
        </p:nvSpPr>
        <p:spPr/>
        <p:txBody>
          <a:bodyPr/>
          <a:lstStyle/>
          <a:p>
            <a:fld id="{004EBD3A-4CD1-5440-8997-2B213668CD8A}" type="datetimeFigureOut">
              <a:rPr lang="en-US" smtClean="0"/>
              <a:t>7/16/25</a:t>
            </a:fld>
            <a:endParaRPr lang="en-US"/>
          </a:p>
        </p:txBody>
      </p:sp>
      <p:sp>
        <p:nvSpPr>
          <p:cNvPr id="4" name="Footer Placeholder 3">
            <a:extLst>
              <a:ext uri="{FF2B5EF4-FFF2-40B4-BE49-F238E27FC236}">
                <a16:creationId xmlns:a16="http://schemas.microsoft.com/office/drawing/2014/main" id="{93B27264-8F5E-EE44-A6CC-104CD8DE13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12D625-4B03-C742-86AF-79E59FF13747}"/>
              </a:ext>
            </a:extLst>
          </p:cNvPr>
          <p:cNvSpPr>
            <a:spLocks noGrp="1"/>
          </p:cNvSpPr>
          <p:nvPr>
            <p:ph type="sldNum" sz="quarter" idx="12"/>
          </p:nvPr>
        </p:nvSpPr>
        <p:spPr/>
        <p:txBody>
          <a:bodyPr/>
          <a:lstStyle/>
          <a:p>
            <a:fld id="{DAF0FC8E-D3C0-0D4C-8608-74EBA918F088}" type="slidenum">
              <a:rPr lang="en-US" smtClean="0"/>
              <a:t>‹#›</a:t>
            </a:fld>
            <a:endParaRPr lang="en-US"/>
          </a:p>
        </p:txBody>
      </p:sp>
      <p:sp>
        <p:nvSpPr>
          <p:cNvPr id="14" name="Date Placeholder 1">
            <a:extLst>
              <a:ext uri="{FF2B5EF4-FFF2-40B4-BE49-F238E27FC236}">
                <a16:creationId xmlns:a16="http://schemas.microsoft.com/office/drawing/2014/main" id="{316D619A-6C1C-6D63-3BAB-C7E2EFA2A638}"/>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04EBD3A-4CD1-5440-8997-2B213668CD8A}" type="datetimeFigureOut">
              <a:rPr lang="en-US" smtClean="0"/>
              <a:pPr/>
              <a:t>7/16/25</a:t>
            </a:fld>
            <a:endParaRPr lang="en-US"/>
          </a:p>
        </p:txBody>
      </p:sp>
      <p:sp>
        <p:nvSpPr>
          <p:cNvPr id="15" name="Slide Number Placeholder 3">
            <a:extLst>
              <a:ext uri="{FF2B5EF4-FFF2-40B4-BE49-F238E27FC236}">
                <a16:creationId xmlns:a16="http://schemas.microsoft.com/office/drawing/2014/main" id="{728E32C3-7260-0654-BB35-CB524E556697}"/>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F0FC8E-D3C0-0D4C-8608-74EBA918F088}" type="slidenum">
              <a:rPr lang="en-US" smtClean="0"/>
              <a:pPr/>
              <a:t>‹#›</a:t>
            </a:fld>
            <a:endParaRPr lang="en-US"/>
          </a:p>
        </p:txBody>
      </p:sp>
      <p:pic>
        <p:nvPicPr>
          <p:cNvPr id="16" name="Picture 15">
            <a:extLst>
              <a:ext uri="{FF2B5EF4-FFF2-40B4-BE49-F238E27FC236}">
                <a16:creationId xmlns:a16="http://schemas.microsoft.com/office/drawing/2014/main" id="{989E20E9-92A7-A6C1-05CC-4CD2E9B98C96}"/>
              </a:ext>
            </a:extLst>
          </p:cNvPr>
          <p:cNvPicPr>
            <a:picLocks noChangeAspect="1"/>
          </p:cNvPicPr>
          <p:nvPr userDrawn="1"/>
        </p:nvPicPr>
        <p:blipFill>
          <a:blip r:embed="rId2"/>
          <a:stretch>
            <a:fillRect/>
          </a:stretch>
        </p:blipFill>
        <p:spPr>
          <a:xfrm>
            <a:off x="0" y="6400686"/>
            <a:ext cx="12192000" cy="457314"/>
          </a:xfrm>
          <a:prstGeom prst="rect">
            <a:avLst/>
          </a:prstGeom>
        </p:spPr>
      </p:pic>
      <p:pic>
        <p:nvPicPr>
          <p:cNvPr id="17" name="Picture 16">
            <a:extLst>
              <a:ext uri="{FF2B5EF4-FFF2-40B4-BE49-F238E27FC236}">
                <a16:creationId xmlns:a16="http://schemas.microsoft.com/office/drawing/2014/main" id="{CB228AFB-CB05-E297-AB5C-FF1CA794A2BB}"/>
              </a:ext>
            </a:extLst>
          </p:cNvPr>
          <p:cNvPicPr>
            <a:picLocks noChangeAspect="1"/>
          </p:cNvPicPr>
          <p:nvPr userDrawn="1"/>
        </p:nvPicPr>
        <p:blipFill>
          <a:blip r:embed="rId3"/>
          <a:stretch>
            <a:fillRect/>
          </a:stretch>
        </p:blipFill>
        <p:spPr>
          <a:xfrm>
            <a:off x="11156735" y="5837375"/>
            <a:ext cx="892835" cy="892835"/>
          </a:xfrm>
          <a:prstGeom prst="rect">
            <a:avLst/>
          </a:prstGeom>
        </p:spPr>
      </p:pic>
    </p:spTree>
    <p:extLst>
      <p:ext uri="{BB962C8B-B14F-4D97-AF65-F5344CB8AC3E}">
        <p14:creationId xmlns:p14="http://schemas.microsoft.com/office/powerpoint/2010/main" val="592983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C394A4-0E0E-6547-B54D-74247518E6D8}"/>
              </a:ext>
            </a:extLst>
          </p:cNvPr>
          <p:cNvSpPr>
            <a:spLocks noGrp="1"/>
          </p:cNvSpPr>
          <p:nvPr>
            <p:ph type="dt" sz="half" idx="10"/>
          </p:nvPr>
        </p:nvSpPr>
        <p:spPr/>
        <p:txBody>
          <a:bodyPr/>
          <a:lstStyle/>
          <a:p>
            <a:fld id="{004EBD3A-4CD1-5440-8997-2B213668CD8A}" type="datetimeFigureOut">
              <a:rPr lang="en-US" smtClean="0"/>
              <a:t>7/16/25</a:t>
            </a:fld>
            <a:endParaRPr lang="en-US"/>
          </a:p>
        </p:txBody>
      </p:sp>
      <p:sp>
        <p:nvSpPr>
          <p:cNvPr id="3" name="Footer Placeholder 2">
            <a:extLst>
              <a:ext uri="{FF2B5EF4-FFF2-40B4-BE49-F238E27FC236}">
                <a16:creationId xmlns:a16="http://schemas.microsoft.com/office/drawing/2014/main" id="{8C9903A7-E38C-844D-B1B7-9C22710990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0F2581-B8BA-554D-965A-FEC9E05755C7}"/>
              </a:ext>
            </a:extLst>
          </p:cNvPr>
          <p:cNvSpPr>
            <a:spLocks noGrp="1"/>
          </p:cNvSpPr>
          <p:nvPr>
            <p:ph type="sldNum" sz="quarter" idx="12"/>
          </p:nvPr>
        </p:nvSpPr>
        <p:spPr/>
        <p:txBody>
          <a:bodyPr/>
          <a:lstStyle/>
          <a:p>
            <a:fld id="{DAF0FC8E-D3C0-0D4C-8608-74EBA918F088}" type="slidenum">
              <a:rPr lang="en-US" smtClean="0"/>
              <a:t>‹#›</a:t>
            </a:fld>
            <a:endParaRPr lang="en-US"/>
          </a:p>
        </p:txBody>
      </p:sp>
      <p:pic>
        <p:nvPicPr>
          <p:cNvPr id="5" name="Picture 4">
            <a:extLst>
              <a:ext uri="{FF2B5EF4-FFF2-40B4-BE49-F238E27FC236}">
                <a16:creationId xmlns:a16="http://schemas.microsoft.com/office/drawing/2014/main" id="{567FC5F0-0B70-A105-1CDA-EEB85464FC24}"/>
              </a:ext>
            </a:extLst>
          </p:cNvPr>
          <p:cNvPicPr>
            <a:picLocks noChangeAspect="1"/>
          </p:cNvPicPr>
          <p:nvPr userDrawn="1"/>
        </p:nvPicPr>
        <p:blipFill>
          <a:blip r:embed="rId2"/>
          <a:stretch>
            <a:fillRect/>
          </a:stretch>
        </p:blipFill>
        <p:spPr>
          <a:xfrm>
            <a:off x="0" y="6400686"/>
            <a:ext cx="12192000" cy="457314"/>
          </a:xfrm>
          <a:prstGeom prst="rect">
            <a:avLst/>
          </a:prstGeom>
        </p:spPr>
      </p:pic>
      <p:pic>
        <p:nvPicPr>
          <p:cNvPr id="6" name="Picture 5">
            <a:extLst>
              <a:ext uri="{FF2B5EF4-FFF2-40B4-BE49-F238E27FC236}">
                <a16:creationId xmlns:a16="http://schemas.microsoft.com/office/drawing/2014/main" id="{097EBA7E-606F-DF64-C0C1-516ECCF8D14A}"/>
              </a:ext>
            </a:extLst>
          </p:cNvPr>
          <p:cNvPicPr>
            <a:picLocks noChangeAspect="1"/>
          </p:cNvPicPr>
          <p:nvPr userDrawn="1"/>
        </p:nvPicPr>
        <p:blipFill>
          <a:blip r:embed="rId3"/>
          <a:stretch>
            <a:fillRect/>
          </a:stretch>
        </p:blipFill>
        <p:spPr>
          <a:xfrm>
            <a:off x="11156735" y="5837375"/>
            <a:ext cx="892835" cy="892835"/>
          </a:xfrm>
          <a:prstGeom prst="rect">
            <a:avLst/>
          </a:prstGeom>
        </p:spPr>
      </p:pic>
    </p:spTree>
    <p:extLst>
      <p:ext uri="{BB962C8B-B14F-4D97-AF65-F5344CB8AC3E}">
        <p14:creationId xmlns:p14="http://schemas.microsoft.com/office/powerpoint/2010/main" val="3508912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DD536-9F6B-9047-9363-77DCD95CD0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1FD82F-14E6-454F-8C32-41F9FC05E9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30EC4F-48A0-244D-B2A6-50DB916858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53EAC1-A50D-DC45-A59E-46F4793B825D}"/>
              </a:ext>
            </a:extLst>
          </p:cNvPr>
          <p:cNvSpPr>
            <a:spLocks noGrp="1"/>
          </p:cNvSpPr>
          <p:nvPr>
            <p:ph type="dt" sz="half" idx="10"/>
          </p:nvPr>
        </p:nvSpPr>
        <p:spPr/>
        <p:txBody>
          <a:bodyPr/>
          <a:lstStyle/>
          <a:p>
            <a:fld id="{004EBD3A-4CD1-5440-8997-2B213668CD8A}" type="datetimeFigureOut">
              <a:rPr lang="en-US" smtClean="0"/>
              <a:t>7/16/25</a:t>
            </a:fld>
            <a:endParaRPr lang="en-US"/>
          </a:p>
        </p:txBody>
      </p:sp>
      <p:sp>
        <p:nvSpPr>
          <p:cNvPr id="6" name="Footer Placeholder 5">
            <a:extLst>
              <a:ext uri="{FF2B5EF4-FFF2-40B4-BE49-F238E27FC236}">
                <a16:creationId xmlns:a16="http://schemas.microsoft.com/office/drawing/2014/main" id="{096F2750-E4CD-5146-AA78-5F712C578B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C3A43B-F660-7C44-BE0D-649E6139DBBC}"/>
              </a:ext>
            </a:extLst>
          </p:cNvPr>
          <p:cNvSpPr>
            <a:spLocks noGrp="1"/>
          </p:cNvSpPr>
          <p:nvPr>
            <p:ph type="sldNum" sz="quarter" idx="12"/>
          </p:nvPr>
        </p:nvSpPr>
        <p:spPr/>
        <p:txBody>
          <a:bodyPr/>
          <a:lstStyle/>
          <a:p>
            <a:fld id="{DAF0FC8E-D3C0-0D4C-8608-74EBA918F088}" type="slidenum">
              <a:rPr lang="en-US" smtClean="0"/>
              <a:t>‹#›</a:t>
            </a:fld>
            <a:endParaRPr lang="en-US"/>
          </a:p>
        </p:txBody>
      </p:sp>
    </p:spTree>
    <p:extLst>
      <p:ext uri="{BB962C8B-B14F-4D97-AF65-F5344CB8AC3E}">
        <p14:creationId xmlns:p14="http://schemas.microsoft.com/office/powerpoint/2010/main" val="2655219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11ACA-EF8F-4443-BF3D-331C28B996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03AA5C-A4BB-3041-802E-B6D23F4FE5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3C390A1-B767-134D-944C-C768BB693E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D96F45-0637-E44B-9975-437C21861FAC}"/>
              </a:ext>
            </a:extLst>
          </p:cNvPr>
          <p:cNvSpPr>
            <a:spLocks noGrp="1"/>
          </p:cNvSpPr>
          <p:nvPr>
            <p:ph type="dt" sz="half" idx="10"/>
          </p:nvPr>
        </p:nvSpPr>
        <p:spPr/>
        <p:txBody>
          <a:bodyPr/>
          <a:lstStyle/>
          <a:p>
            <a:fld id="{004EBD3A-4CD1-5440-8997-2B213668CD8A}" type="datetimeFigureOut">
              <a:rPr lang="en-US" smtClean="0"/>
              <a:t>7/16/25</a:t>
            </a:fld>
            <a:endParaRPr lang="en-US"/>
          </a:p>
        </p:txBody>
      </p:sp>
      <p:sp>
        <p:nvSpPr>
          <p:cNvPr id="6" name="Footer Placeholder 5">
            <a:extLst>
              <a:ext uri="{FF2B5EF4-FFF2-40B4-BE49-F238E27FC236}">
                <a16:creationId xmlns:a16="http://schemas.microsoft.com/office/drawing/2014/main" id="{2B56984A-DE85-6345-BA9D-E55706C3AC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6F7549-72BF-3040-84D0-3B9777F75A6F}"/>
              </a:ext>
            </a:extLst>
          </p:cNvPr>
          <p:cNvSpPr>
            <a:spLocks noGrp="1"/>
          </p:cNvSpPr>
          <p:nvPr>
            <p:ph type="sldNum" sz="quarter" idx="12"/>
          </p:nvPr>
        </p:nvSpPr>
        <p:spPr/>
        <p:txBody>
          <a:bodyPr/>
          <a:lstStyle/>
          <a:p>
            <a:fld id="{DAF0FC8E-D3C0-0D4C-8608-74EBA918F088}" type="slidenum">
              <a:rPr lang="en-US" smtClean="0"/>
              <a:t>‹#›</a:t>
            </a:fld>
            <a:endParaRPr lang="en-US"/>
          </a:p>
        </p:txBody>
      </p:sp>
    </p:spTree>
    <p:extLst>
      <p:ext uri="{BB962C8B-B14F-4D97-AF65-F5344CB8AC3E}">
        <p14:creationId xmlns:p14="http://schemas.microsoft.com/office/powerpoint/2010/main" val="4194860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14145-2305-2140-8342-04C68948427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78F509-0349-EA45-A9E7-166A48127B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1C1BAA-F130-794F-92BF-25587A78B25B}"/>
              </a:ext>
            </a:extLst>
          </p:cNvPr>
          <p:cNvSpPr>
            <a:spLocks noGrp="1"/>
          </p:cNvSpPr>
          <p:nvPr>
            <p:ph type="dt" sz="half" idx="10"/>
          </p:nvPr>
        </p:nvSpPr>
        <p:spPr/>
        <p:txBody>
          <a:bodyPr/>
          <a:lstStyle/>
          <a:p>
            <a:fld id="{004EBD3A-4CD1-5440-8997-2B213668CD8A}" type="datetimeFigureOut">
              <a:rPr lang="en-US" smtClean="0"/>
              <a:t>7/16/25</a:t>
            </a:fld>
            <a:endParaRPr lang="en-US"/>
          </a:p>
        </p:txBody>
      </p:sp>
      <p:sp>
        <p:nvSpPr>
          <p:cNvPr id="5" name="Footer Placeholder 4">
            <a:extLst>
              <a:ext uri="{FF2B5EF4-FFF2-40B4-BE49-F238E27FC236}">
                <a16:creationId xmlns:a16="http://schemas.microsoft.com/office/drawing/2014/main" id="{C582ABFC-3530-4947-A539-3F5623C734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2AD745-173C-224C-B538-D2028A2F5ECD}"/>
              </a:ext>
            </a:extLst>
          </p:cNvPr>
          <p:cNvSpPr>
            <a:spLocks noGrp="1"/>
          </p:cNvSpPr>
          <p:nvPr>
            <p:ph type="sldNum" sz="quarter" idx="12"/>
          </p:nvPr>
        </p:nvSpPr>
        <p:spPr/>
        <p:txBody>
          <a:bodyPr/>
          <a:lstStyle/>
          <a:p>
            <a:fld id="{DAF0FC8E-D3C0-0D4C-8608-74EBA918F088}" type="slidenum">
              <a:rPr lang="en-US" smtClean="0"/>
              <a:t>‹#›</a:t>
            </a:fld>
            <a:endParaRPr lang="en-US"/>
          </a:p>
        </p:txBody>
      </p:sp>
    </p:spTree>
    <p:extLst>
      <p:ext uri="{BB962C8B-B14F-4D97-AF65-F5344CB8AC3E}">
        <p14:creationId xmlns:p14="http://schemas.microsoft.com/office/powerpoint/2010/main" val="1892644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2D5187-D026-7540-9BA1-9D91273915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FB168D-566D-5B44-8964-C3EF33D4E3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1D2507-3191-0C46-9CF6-B490D75BC0D6}"/>
              </a:ext>
            </a:extLst>
          </p:cNvPr>
          <p:cNvSpPr>
            <a:spLocks noGrp="1"/>
          </p:cNvSpPr>
          <p:nvPr>
            <p:ph type="dt" sz="half" idx="10"/>
          </p:nvPr>
        </p:nvSpPr>
        <p:spPr/>
        <p:txBody>
          <a:bodyPr/>
          <a:lstStyle/>
          <a:p>
            <a:fld id="{004EBD3A-4CD1-5440-8997-2B213668CD8A}" type="datetimeFigureOut">
              <a:rPr lang="en-US" smtClean="0"/>
              <a:t>7/16/25</a:t>
            </a:fld>
            <a:endParaRPr lang="en-US"/>
          </a:p>
        </p:txBody>
      </p:sp>
      <p:sp>
        <p:nvSpPr>
          <p:cNvPr id="5" name="Footer Placeholder 4">
            <a:extLst>
              <a:ext uri="{FF2B5EF4-FFF2-40B4-BE49-F238E27FC236}">
                <a16:creationId xmlns:a16="http://schemas.microsoft.com/office/drawing/2014/main" id="{58AEAFDF-5426-1441-A2B7-8C3D8D905D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8DECEB-3734-4D4D-929E-5EA9076E8558}"/>
              </a:ext>
            </a:extLst>
          </p:cNvPr>
          <p:cNvSpPr>
            <a:spLocks noGrp="1"/>
          </p:cNvSpPr>
          <p:nvPr>
            <p:ph type="sldNum" sz="quarter" idx="12"/>
          </p:nvPr>
        </p:nvSpPr>
        <p:spPr/>
        <p:txBody>
          <a:bodyPr/>
          <a:lstStyle/>
          <a:p>
            <a:fld id="{DAF0FC8E-D3C0-0D4C-8608-74EBA918F088}" type="slidenum">
              <a:rPr lang="en-US" smtClean="0"/>
              <a:t>‹#›</a:t>
            </a:fld>
            <a:endParaRPr lang="en-US"/>
          </a:p>
        </p:txBody>
      </p:sp>
    </p:spTree>
    <p:extLst>
      <p:ext uri="{BB962C8B-B14F-4D97-AF65-F5344CB8AC3E}">
        <p14:creationId xmlns:p14="http://schemas.microsoft.com/office/powerpoint/2010/main" val="1911727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464FEF-070E-B541-8E78-5AA42C56C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AB2BCA-B893-1542-BF7B-82C2CC6CF9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57A5D-BA50-E242-B238-ED912C9E3C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EBD3A-4CD1-5440-8997-2B213668CD8A}" type="datetimeFigureOut">
              <a:rPr lang="en-US" smtClean="0"/>
              <a:t>7/16/25</a:t>
            </a:fld>
            <a:endParaRPr lang="en-US"/>
          </a:p>
        </p:txBody>
      </p:sp>
      <p:sp>
        <p:nvSpPr>
          <p:cNvPr id="5" name="Footer Placeholder 4">
            <a:extLst>
              <a:ext uri="{FF2B5EF4-FFF2-40B4-BE49-F238E27FC236}">
                <a16:creationId xmlns:a16="http://schemas.microsoft.com/office/drawing/2014/main" id="{582F1FDD-36F2-7C40-966A-3F01D09465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3787A1-81E1-614C-95BB-C717261B83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FC8E-D3C0-0D4C-8608-74EBA918F088}" type="slidenum">
              <a:rPr lang="en-US" smtClean="0"/>
              <a:t>‹#›</a:t>
            </a:fld>
            <a:endParaRPr lang="en-US"/>
          </a:p>
        </p:txBody>
      </p:sp>
    </p:spTree>
    <p:extLst>
      <p:ext uri="{BB962C8B-B14F-4D97-AF65-F5344CB8AC3E}">
        <p14:creationId xmlns:p14="http://schemas.microsoft.com/office/powerpoint/2010/main" val="3681942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4E03FB-8800-A6E1-557F-8EC7FE30AFBD}"/>
              </a:ext>
            </a:extLst>
          </p:cNvPr>
          <p:cNvSpPr>
            <a:spLocks noGrp="1"/>
          </p:cNvSpPr>
          <p:nvPr>
            <p:ph type="ctrTitle"/>
          </p:nvPr>
        </p:nvSpPr>
        <p:spPr/>
        <p:txBody>
          <a:bodyPr>
            <a:normAutofit fontScale="90000"/>
          </a:bodyPr>
          <a:lstStyle/>
          <a:p>
            <a:r>
              <a:rPr lang="en-US" dirty="0"/>
              <a:t>Species Distribution, </a:t>
            </a:r>
            <a:r>
              <a:rPr lang="en-US" dirty="0" err="1"/>
              <a:t>BioDiveresity</a:t>
            </a:r>
            <a:r>
              <a:rPr lang="en-US" dirty="0"/>
              <a:t> and AI/Machine Learning</a:t>
            </a:r>
          </a:p>
        </p:txBody>
      </p:sp>
      <p:sp>
        <p:nvSpPr>
          <p:cNvPr id="5" name="Subtitle 4">
            <a:extLst>
              <a:ext uri="{FF2B5EF4-FFF2-40B4-BE49-F238E27FC236}">
                <a16:creationId xmlns:a16="http://schemas.microsoft.com/office/drawing/2014/main" id="{742DFB19-590E-FCDC-8C83-615EA4C5400F}"/>
              </a:ext>
            </a:extLst>
          </p:cNvPr>
          <p:cNvSpPr>
            <a:spLocks noGrp="1"/>
          </p:cNvSpPr>
          <p:nvPr>
            <p:ph type="subTitle" idx="1"/>
          </p:nvPr>
        </p:nvSpPr>
        <p:spPr>
          <a:xfrm>
            <a:off x="1524000" y="3602038"/>
            <a:ext cx="9568070" cy="1655762"/>
          </a:xfrm>
        </p:spPr>
        <p:txBody>
          <a:bodyPr>
            <a:normAutofit/>
          </a:bodyPr>
          <a:lstStyle/>
          <a:p>
            <a:endParaRPr lang="en-US" sz="3200" dirty="0"/>
          </a:p>
        </p:txBody>
      </p:sp>
    </p:spTree>
    <p:extLst>
      <p:ext uri="{BB962C8B-B14F-4D97-AF65-F5344CB8AC3E}">
        <p14:creationId xmlns:p14="http://schemas.microsoft.com/office/powerpoint/2010/main" val="1763564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06C23-65A9-74A2-EF42-2D7D381E56B1}"/>
              </a:ext>
            </a:extLst>
          </p:cNvPr>
          <p:cNvSpPr>
            <a:spLocks noGrp="1"/>
          </p:cNvSpPr>
          <p:nvPr>
            <p:ph type="title"/>
          </p:nvPr>
        </p:nvSpPr>
        <p:spPr>
          <a:xfrm>
            <a:off x="838200" y="136525"/>
            <a:ext cx="10515600" cy="1559753"/>
          </a:xfrm>
        </p:spPr>
        <p:txBody>
          <a:bodyPr/>
          <a:lstStyle/>
          <a:p>
            <a:r>
              <a:rPr lang="en-US" dirty="0"/>
              <a:t>The relation between Species Distribution and Weather </a:t>
            </a:r>
          </a:p>
        </p:txBody>
      </p:sp>
      <p:sp>
        <p:nvSpPr>
          <p:cNvPr id="3" name="Content Placeholder 2">
            <a:extLst>
              <a:ext uri="{FF2B5EF4-FFF2-40B4-BE49-F238E27FC236}">
                <a16:creationId xmlns:a16="http://schemas.microsoft.com/office/drawing/2014/main" id="{A311EE4D-5BAE-1C54-F6B1-C6E6DC3F15E8}"/>
              </a:ext>
            </a:extLst>
          </p:cNvPr>
          <p:cNvSpPr>
            <a:spLocks noGrp="1"/>
          </p:cNvSpPr>
          <p:nvPr>
            <p:ph idx="1"/>
          </p:nvPr>
        </p:nvSpPr>
        <p:spPr>
          <a:xfrm>
            <a:off x="838200" y="1974573"/>
            <a:ext cx="10515600" cy="4202389"/>
          </a:xfrm>
        </p:spPr>
        <p:txBody>
          <a:bodyPr>
            <a:normAutofit lnSpcReduction="10000"/>
          </a:bodyPr>
          <a:lstStyle/>
          <a:p>
            <a:r>
              <a:rPr lang="en-US" dirty="0"/>
              <a:t>Examining explicit species distribution models (SDMs) to test whether shifting weather can explain a decline in marsupial carnivore, the eastern quoll (</a:t>
            </a:r>
            <a:r>
              <a:rPr lang="en-US" dirty="0" err="1"/>
              <a:t>Dasyurus</a:t>
            </a:r>
            <a:r>
              <a:rPr lang="en-US" dirty="0"/>
              <a:t> </a:t>
            </a:r>
            <a:r>
              <a:rPr lang="en-US" dirty="0" err="1"/>
              <a:t>viverrinus</a:t>
            </a:r>
            <a:r>
              <a:rPr lang="en-US" dirty="0"/>
              <a:t>).  (Fancourt et. al Testing the Role of Climate Change in Species Decline: Is the Eastern Quoll a Victim of a Change in the Weather?, 2015) </a:t>
            </a:r>
          </a:p>
          <a:p>
            <a:r>
              <a:rPr lang="en-US" dirty="0"/>
              <a:t>This research developed an SDM using weather variables matched to occurrence records of the eastern quoll over the last 60 years, and used the model to reconstruct variation through time in the distribution of climatically suitable range for the species. </a:t>
            </a:r>
          </a:p>
          <a:p>
            <a:r>
              <a:rPr lang="en-US" dirty="0"/>
              <a:t>The weather model produced a meaningful prediction of the known distribution of the species. </a:t>
            </a:r>
          </a:p>
          <a:p>
            <a:endParaRPr lang="en-US" dirty="0"/>
          </a:p>
          <a:p>
            <a:endParaRPr lang="en-US" dirty="0"/>
          </a:p>
        </p:txBody>
      </p:sp>
    </p:spTree>
    <p:extLst>
      <p:ext uri="{BB962C8B-B14F-4D97-AF65-F5344CB8AC3E}">
        <p14:creationId xmlns:p14="http://schemas.microsoft.com/office/powerpoint/2010/main" val="1651631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8E30E-696E-D3D2-4BF4-A7D8B8ADCC9C}"/>
              </a:ext>
            </a:extLst>
          </p:cNvPr>
          <p:cNvSpPr>
            <a:spLocks noGrp="1"/>
          </p:cNvSpPr>
          <p:nvPr>
            <p:ph type="title"/>
          </p:nvPr>
        </p:nvSpPr>
        <p:spPr>
          <a:xfrm>
            <a:off x="838200" y="136525"/>
            <a:ext cx="10515600" cy="1029666"/>
          </a:xfrm>
        </p:spPr>
        <p:txBody>
          <a:bodyPr>
            <a:normAutofit fontScale="90000"/>
          </a:bodyPr>
          <a:lstStyle/>
          <a:p>
            <a:r>
              <a:rPr lang="en-US" dirty="0"/>
              <a:t>The relation between Species Distribution and Weather</a:t>
            </a:r>
          </a:p>
        </p:txBody>
      </p:sp>
      <p:sp>
        <p:nvSpPr>
          <p:cNvPr id="3" name="Content Placeholder 2">
            <a:extLst>
              <a:ext uri="{FF2B5EF4-FFF2-40B4-BE49-F238E27FC236}">
                <a16:creationId xmlns:a16="http://schemas.microsoft.com/office/drawing/2014/main" id="{EEFAD82D-2945-852C-B639-20FA87533C1A}"/>
              </a:ext>
            </a:extLst>
          </p:cNvPr>
          <p:cNvSpPr>
            <a:spLocks noGrp="1"/>
          </p:cNvSpPr>
          <p:nvPr>
            <p:ph idx="1"/>
          </p:nvPr>
        </p:nvSpPr>
        <p:spPr>
          <a:xfrm>
            <a:off x="838200" y="1364974"/>
            <a:ext cx="10515600" cy="4811989"/>
          </a:xfrm>
        </p:spPr>
        <p:txBody>
          <a:bodyPr/>
          <a:lstStyle/>
          <a:p>
            <a:r>
              <a:rPr lang="en-US" dirty="0"/>
              <a:t>(Mawdsley et al. “A review of climate-change adaptation strategies for wildlife management and biodiversity conservation) </a:t>
            </a:r>
          </a:p>
          <a:p>
            <a:r>
              <a:rPr lang="en-US" dirty="0"/>
              <a:t>This scientific literature contains numerous descriptions of observed and potential effects of global climate change on species and ecosystems. </a:t>
            </a:r>
          </a:p>
          <a:p>
            <a:r>
              <a:rPr lang="en-US" dirty="0"/>
              <a:t>”Adaptation strategies have been developed as climate-change adaptation by conservation organizations and government agencies to facilitate the adjustment of human society and ecological systems to altered climate regimes.  </a:t>
            </a:r>
          </a:p>
          <a:p>
            <a:endParaRPr lang="en-US" dirty="0"/>
          </a:p>
        </p:txBody>
      </p:sp>
    </p:spTree>
    <p:extLst>
      <p:ext uri="{BB962C8B-B14F-4D97-AF65-F5344CB8AC3E}">
        <p14:creationId xmlns:p14="http://schemas.microsoft.com/office/powerpoint/2010/main" val="2784171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D4F04-F405-4D37-FF6B-4819AC0CB84E}"/>
              </a:ext>
            </a:extLst>
          </p:cNvPr>
          <p:cNvSpPr>
            <a:spLocks noGrp="1"/>
          </p:cNvSpPr>
          <p:nvPr>
            <p:ph type="title"/>
          </p:nvPr>
        </p:nvSpPr>
        <p:spPr>
          <a:xfrm>
            <a:off x="838200" y="136525"/>
            <a:ext cx="10515600" cy="1387475"/>
          </a:xfrm>
        </p:spPr>
        <p:txBody>
          <a:bodyPr>
            <a:normAutofit/>
          </a:bodyPr>
          <a:lstStyle/>
          <a:p>
            <a:r>
              <a:rPr lang="en-US" dirty="0"/>
              <a:t>The relation between Species Distribution and Weather</a:t>
            </a:r>
          </a:p>
        </p:txBody>
      </p:sp>
      <p:sp>
        <p:nvSpPr>
          <p:cNvPr id="3" name="Content Placeholder 2">
            <a:extLst>
              <a:ext uri="{FF2B5EF4-FFF2-40B4-BE49-F238E27FC236}">
                <a16:creationId xmlns:a16="http://schemas.microsoft.com/office/drawing/2014/main" id="{14818DE4-4CE7-5ADB-BF8D-6C781D2112F3}"/>
              </a:ext>
            </a:extLst>
          </p:cNvPr>
          <p:cNvSpPr>
            <a:spLocks noGrp="1"/>
          </p:cNvSpPr>
          <p:nvPr>
            <p:ph idx="1"/>
          </p:nvPr>
        </p:nvSpPr>
        <p:spPr/>
        <p:txBody>
          <a:bodyPr/>
          <a:lstStyle/>
          <a:p>
            <a:r>
              <a:rPr lang="en-US" dirty="0"/>
              <a:t>(</a:t>
            </a:r>
            <a:r>
              <a:rPr lang="en-US" dirty="0" err="1"/>
              <a:t>Guisan</a:t>
            </a:r>
            <a:r>
              <a:rPr lang="en-US" dirty="0"/>
              <a:t> et al. “Predicting species distribution: offering more than simple habitat models”, 2005). </a:t>
            </a:r>
          </a:p>
          <a:p>
            <a:r>
              <a:rPr lang="en-US" dirty="0"/>
              <a:t>This work focuses on the critical limitations and decisions inherent in the construction and evaluation of SDMs for the assessment of climate change impacts and conservation management issues. </a:t>
            </a:r>
          </a:p>
          <a:p>
            <a:r>
              <a:rPr lang="en-US" dirty="0"/>
              <a:t>The paper suggests new avenues for incorporating species migration, population dynamics, biotic interactions, and community ecology into SDMs at multiple spatial scales. </a:t>
            </a:r>
          </a:p>
        </p:txBody>
      </p:sp>
    </p:spTree>
    <p:extLst>
      <p:ext uri="{BB962C8B-B14F-4D97-AF65-F5344CB8AC3E}">
        <p14:creationId xmlns:p14="http://schemas.microsoft.com/office/powerpoint/2010/main" val="3409022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7DD25-C96C-622A-0CF2-B2A0DFB5F8AD}"/>
              </a:ext>
            </a:extLst>
          </p:cNvPr>
          <p:cNvSpPr>
            <a:spLocks noGrp="1"/>
          </p:cNvSpPr>
          <p:nvPr>
            <p:ph type="title"/>
          </p:nvPr>
        </p:nvSpPr>
        <p:spPr>
          <a:xfrm>
            <a:off x="838200" y="136525"/>
            <a:ext cx="10515600" cy="1095927"/>
          </a:xfrm>
        </p:spPr>
        <p:txBody>
          <a:bodyPr>
            <a:normAutofit fontScale="90000"/>
          </a:bodyPr>
          <a:lstStyle/>
          <a:p>
            <a:r>
              <a:rPr lang="en-US" dirty="0"/>
              <a:t>The relation between Species Distribution and Weather</a:t>
            </a:r>
          </a:p>
        </p:txBody>
      </p:sp>
      <p:sp>
        <p:nvSpPr>
          <p:cNvPr id="3" name="Content Placeholder 2">
            <a:extLst>
              <a:ext uri="{FF2B5EF4-FFF2-40B4-BE49-F238E27FC236}">
                <a16:creationId xmlns:a16="http://schemas.microsoft.com/office/drawing/2014/main" id="{66814CAD-A097-85B4-7B06-EBF5338742B5}"/>
              </a:ext>
            </a:extLst>
          </p:cNvPr>
          <p:cNvSpPr>
            <a:spLocks noGrp="1"/>
          </p:cNvSpPr>
          <p:nvPr>
            <p:ph idx="1"/>
          </p:nvPr>
        </p:nvSpPr>
        <p:spPr/>
        <p:txBody>
          <a:bodyPr/>
          <a:lstStyle/>
          <a:p>
            <a:r>
              <a:rPr lang="en-US" dirty="0"/>
              <a:t>(Thomas et. al “Extinction risk from climate change”, 2004) propose the use of projections of species’ distributions for future climate scenarios, and assessing extinction risks for sample regions that cover some 20% of the Earth’s terrestrial surface. </a:t>
            </a:r>
          </a:p>
          <a:p>
            <a:endParaRPr lang="en-US" dirty="0"/>
          </a:p>
        </p:txBody>
      </p:sp>
    </p:spTree>
    <p:extLst>
      <p:ext uri="{BB962C8B-B14F-4D97-AF65-F5344CB8AC3E}">
        <p14:creationId xmlns:p14="http://schemas.microsoft.com/office/powerpoint/2010/main" val="1682485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1544D-135D-5D5F-32C2-5F53DE62E354}"/>
              </a:ext>
            </a:extLst>
          </p:cNvPr>
          <p:cNvSpPr>
            <a:spLocks noGrp="1"/>
          </p:cNvSpPr>
          <p:nvPr>
            <p:ph type="title"/>
          </p:nvPr>
        </p:nvSpPr>
        <p:spPr>
          <a:xfrm>
            <a:off x="838200" y="136525"/>
            <a:ext cx="10515600" cy="1175440"/>
          </a:xfrm>
        </p:spPr>
        <p:txBody>
          <a:bodyPr>
            <a:normAutofit fontScale="90000"/>
          </a:bodyPr>
          <a:lstStyle/>
          <a:p>
            <a:r>
              <a:rPr lang="en-US" dirty="0"/>
              <a:t>The relation between Species Distribution and Weather</a:t>
            </a:r>
          </a:p>
        </p:txBody>
      </p:sp>
      <p:sp>
        <p:nvSpPr>
          <p:cNvPr id="3" name="Content Placeholder 2">
            <a:extLst>
              <a:ext uri="{FF2B5EF4-FFF2-40B4-BE49-F238E27FC236}">
                <a16:creationId xmlns:a16="http://schemas.microsoft.com/office/drawing/2014/main" id="{2740B872-C5FA-E6B6-E0E0-E048EA8E6DE8}"/>
              </a:ext>
            </a:extLst>
          </p:cNvPr>
          <p:cNvSpPr>
            <a:spLocks noGrp="1"/>
          </p:cNvSpPr>
          <p:nvPr>
            <p:ph idx="1"/>
          </p:nvPr>
        </p:nvSpPr>
        <p:spPr/>
        <p:txBody>
          <a:bodyPr/>
          <a:lstStyle/>
          <a:p>
            <a:r>
              <a:rPr lang="en-US" dirty="0"/>
              <a:t>(Roma—Palacios et al., “Recent responses to climate change reveal the drivers of species extinction and survival”, 2020), Identify the specific climate changes that are associated with the widespread local extinctions that have already occurred. The information is then used to predict the extent of future biodiversity loss and to identify which processes may forestall extinction. This study, using surveys of plant and animal species over time, found that locations with local extinctions had larger and faster changes in the hottest yearly temperatures than those without. </a:t>
            </a:r>
          </a:p>
        </p:txBody>
      </p:sp>
    </p:spTree>
    <p:extLst>
      <p:ext uri="{BB962C8B-B14F-4D97-AF65-F5344CB8AC3E}">
        <p14:creationId xmlns:p14="http://schemas.microsoft.com/office/powerpoint/2010/main" val="1082371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D568A-30A7-2A6C-4073-40D4F7590723}"/>
              </a:ext>
            </a:extLst>
          </p:cNvPr>
          <p:cNvSpPr>
            <a:spLocks noGrp="1"/>
          </p:cNvSpPr>
          <p:nvPr>
            <p:ph type="title"/>
          </p:nvPr>
        </p:nvSpPr>
        <p:spPr>
          <a:xfrm>
            <a:off x="838200" y="136524"/>
            <a:ext cx="10515600" cy="1241701"/>
          </a:xfrm>
        </p:spPr>
        <p:txBody>
          <a:bodyPr>
            <a:normAutofit fontScale="90000"/>
          </a:bodyPr>
          <a:lstStyle/>
          <a:p>
            <a:r>
              <a:rPr lang="en-US" dirty="0"/>
              <a:t>Machine Learning/AI for Biodiversity and Species Distribution </a:t>
            </a:r>
          </a:p>
        </p:txBody>
      </p:sp>
      <p:sp>
        <p:nvSpPr>
          <p:cNvPr id="3" name="Content Placeholder 2">
            <a:extLst>
              <a:ext uri="{FF2B5EF4-FFF2-40B4-BE49-F238E27FC236}">
                <a16:creationId xmlns:a16="http://schemas.microsoft.com/office/drawing/2014/main" id="{1B253A9B-A3B4-0979-FAB6-DD7FA6EA2BD5}"/>
              </a:ext>
            </a:extLst>
          </p:cNvPr>
          <p:cNvSpPr>
            <a:spLocks noGrp="1"/>
          </p:cNvSpPr>
          <p:nvPr>
            <p:ph idx="1"/>
          </p:nvPr>
        </p:nvSpPr>
        <p:spPr>
          <a:xfrm>
            <a:off x="838200" y="1577009"/>
            <a:ext cx="10515600" cy="4599954"/>
          </a:xfrm>
        </p:spPr>
        <p:txBody>
          <a:bodyPr>
            <a:normAutofit fontScale="92500" lnSpcReduction="10000"/>
          </a:bodyPr>
          <a:lstStyle/>
          <a:p>
            <a:r>
              <a:rPr lang="en-US" dirty="0"/>
              <a:t>(Coro et al. “Climate change effects on animal presence in the </a:t>
            </a:r>
            <a:r>
              <a:rPr lang="en-US" dirty="0" err="1"/>
              <a:t>Massaciuccoli</a:t>
            </a:r>
            <a:r>
              <a:rPr lang="en-US" dirty="0"/>
              <a:t> Lake Basin”, 2024). This work states that big-data mining approaches based on Artificial Intelligence models can help forecast biodiversity changes before they happen. The approaches can predict macroscopic species distribution patterns and trends that can inform preventive measures to avoid the loss of ecosystem functions and services. Helping study and mitigate climate change implications on biodiversity conservation in fragile ecosystems. </a:t>
            </a:r>
          </a:p>
          <a:p>
            <a:r>
              <a:rPr lang="en-US" dirty="0"/>
              <a:t>This work proposes a predictive analysis for a specific wetland: The </a:t>
            </a:r>
            <a:r>
              <a:rPr lang="en-US" dirty="0" err="1"/>
              <a:t>Massaciuccoli</a:t>
            </a:r>
            <a:r>
              <a:rPr lang="en-US" dirty="0"/>
              <a:t> Lake basin in Tuscany, Italy. The use of machine-learning models, can predict the potential effects of climate change on animal spatial distribution in the basin under different greenhouse gas emission scenarios. </a:t>
            </a:r>
          </a:p>
        </p:txBody>
      </p:sp>
    </p:spTree>
    <p:extLst>
      <p:ext uri="{BB962C8B-B14F-4D97-AF65-F5344CB8AC3E}">
        <p14:creationId xmlns:p14="http://schemas.microsoft.com/office/powerpoint/2010/main" val="466720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86EF8-B14B-60C4-08D8-BCC674E4DD1E}"/>
              </a:ext>
            </a:extLst>
          </p:cNvPr>
          <p:cNvSpPr>
            <a:spLocks noGrp="1"/>
          </p:cNvSpPr>
          <p:nvPr>
            <p:ph type="title"/>
          </p:nvPr>
        </p:nvSpPr>
        <p:spPr>
          <a:xfrm>
            <a:off x="838200" y="136525"/>
            <a:ext cx="10515600" cy="1069423"/>
          </a:xfrm>
        </p:spPr>
        <p:txBody>
          <a:bodyPr>
            <a:normAutofit fontScale="90000"/>
          </a:bodyPr>
          <a:lstStyle/>
          <a:p>
            <a:r>
              <a:rPr lang="en-US" dirty="0"/>
              <a:t>Machine Learning/AI for Biodiversity and Species Distribution </a:t>
            </a:r>
          </a:p>
        </p:txBody>
      </p:sp>
      <p:sp>
        <p:nvSpPr>
          <p:cNvPr id="3" name="Content Placeholder 2">
            <a:extLst>
              <a:ext uri="{FF2B5EF4-FFF2-40B4-BE49-F238E27FC236}">
                <a16:creationId xmlns:a16="http://schemas.microsoft.com/office/drawing/2014/main" id="{DE25F661-C405-7EA7-0205-93FA9B8D5391}"/>
              </a:ext>
            </a:extLst>
          </p:cNvPr>
          <p:cNvSpPr>
            <a:spLocks noGrp="1"/>
          </p:cNvSpPr>
          <p:nvPr>
            <p:ph idx="1"/>
          </p:nvPr>
        </p:nvSpPr>
        <p:spPr>
          <a:xfrm>
            <a:off x="838200" y="1590261"/>
            <a:ext cx="10515600" cy="4586702"/>
          </a:xfrm>
        </p:spPr>
        <p:txBody>
          <a:bodyPr/>
          <a:lstStyle/>
          <a:p>
            <a:r>
              <a:rPr lang="en-US" dirty="0"/>
              <a:t>(Fergus et. al, “Harnessing Artificial Intelligence for Wildlife Conservation”, 2024) This work examines the use of artificial intelligence (AI) in wildlife conservation, focusing on the Conservation AI platform. </a:t>
            </a:r>
          </a:p>
          <a:p>
            <a:r>
              <a:rPr lang="en-US" dirty="0"/>
              <a:t>The work leverages machine learning and computer vision, referred to as Conservation AI, to detect and classify animals, humans, and poaching-related objects using visual spectrum and thermal infrared cameras. The platform processes these data with convolutional neural networks (CNNs) and transformer architectures to monitor species, including those that are critically endangered. </a:t>
            </a:r>
          </a:p>
        </p:txBody>
      </p:sp>
    </p:spTree>
    <p:extLst>
      <p:ext uri="{BB962C8B-B14F-4D97-AF65-F5344CB8AC3E}">
        <p14:creationId xmlns:p14="http://schemas.microsoft.com/office/powerpoint/2010/main" val="3622625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52D1B-6F6A-2365-1C64-EC9E247714CC}"/>
              </a:ext>
            </a:extLst>
          </p:cNvPr>
          <p:cNvSpPr>
            <a:spLocks noGrp="1"/>
          </p:cNvSpPr>
          <p:nvPr>
            <p:ph type="title"/>
          </p:nvPr>
        </p:nvSpPr>
        <p:spPr>
          <a:xfrm>
            <a:off x="838200" y="136525"/>
            <a:ext cx="10515600" cy="1148936"/>
          </a:xfrm>
        </p:spPr>
        <p:txBody>
          <a:bodyPr>
            <a:normAutofit fontScale="90000"/>
          </a:bodyPr>
          <a:lstStyle/>
          <a:p>
            <a:r>
              <a:rPr lang="en-US" dirty="0"/>
              <a:t>Machine Learning/AI for Biodiversity and Species Distribution </a:t>
            </a:r>
          </a:p>
        </p:txBody>
      </p:sp>
      <p:sp>
        <p:nvSpPr>
          <p:cNvPr id="3" name="Content Placeholder 2">
            <a:extLst>
              <a:ext uri="{FF2B5EF4-FFF2-40B4-BE49-F238E27FC236}">
                <a16:creationId xmlns:a16="http://schemas.microsoft.com/office/drawing/2014/main" id="{7011D72C-87FD-F877-FBBF-A62204D39E88}"/>
              </a:ext>
            </a:extLst>
          </p:cNvPr>
          <p:cNvSpPr>
            <a:spLocks noGrp="1"/>
          </p:cNvSpPr>
          <p:nvPr>
            <p:ph idx="1"/>
          </p:nvPr>
        </p:nvSpPr>
        <p:spPr>
          <a:xfrm>
            <a:off x="838200" y="1524000"/>
            <a:ext cx="10515600" cy="4652963"/>
          </a:xfrm>
        </p:spPr>
        <p:txBody>
          <a:bodyPr/>
          <a:lstStyle/>
          <a:p>
            <a:r>
              <a:rPr lang="en-US" dirty="0"/>
              <a:t>(</a:t>
            </a:r>
            <a:r>
              <a:rPr lang="en-US" dirty="0" err="1"/>
              <a:t>Jungho</a:t>
            </a:r>
            <a:r>
              <a:rPr lang="en-US" dirty="0"/>
              <a:t> </a:t>
            </a:r>
            <a:r>
              <a:rPr lang="en-US" dirty="0" err="1"/>
              <a:t>lm</a:t>
            </a:r>
            <a:r>
              <a:rPr lang="en-US" dirty="0"/>
              <a:t> et. al, “Machine learning approaches for forest classification and change analysis using multi-temporal Landsat TM images over Huntington Wildlife Forest”) This research investigated three machine learning approaches – decision trees, random forest, and support vector machines – to classify local forest communities at the Huntington Wildlife Forest (HWF) to identify forest type change over a 20-year period using multi-temporal Landsat satellite </a:t>
            </a:r>
            <a:r>
              <a:rPr lang="en-US" dirty="0" err="1"/>
              <a:t>Tematic</a:t>
            </a:r>
            <a:r>
              <a:rPr lang="en-US" dirty="0"/>
              <a:t> Mapper (TM) data. </a:t>
            </a:r>
          </a:p>
        </p:txBody>
      </p:sp>
    </p:spTree>
    <p:extLst>
      <p:ext uri="{BB962C8B-B14F-4D97-AF65-F5344CB8AC3E}">
        <p14:creationId xmlns:p14="http://schemas.microsoft.com/office/powerpoint/2010/main" val="92035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F4CE2-FF69-DB24-2787-5F63462E0920}"/>
              </a:ext>
            </a:extLst>
          </p:cNvPr>
          <p:cNvSpPr>
            <a:spLocks noGrp="1"/>
          </p:cNvSpPr>
          <p:nvPr>
            <p:ph type="title"/>
          </p:nvPr>
        </p:nvSpPr>
        <p:spPr/>
        <p:txBody>
          <a:bodyPr/>
          <a:lstStyle/>
          <a:p>
            <a:r>
              <a:rPr lang="en-US" dirty="0" err="1"/>
              <a:t>PanTHERIA</a:t>
            </a:r>
            <a:r>
              <a:rPr lang="en-US" dirty="0"/>
              <a:t> Dataset</a:t>
            </a:r>
          </a:p>
        </p:txBody>
      </p:sp>
      <p:sp>
        <p:nvSpPr>
          <p:cNvPr id="3" name="Content Placeholder 2">
            <a:extLst>
              <a:ext uri="{FF2B5EF4-FFF2-40B4-BE49-F238E27FC236}">
                <a16:creationId xmlns:a16="http://schemas.microsoft.com/office/drawing/2014/main" id="{0D6AFEF7-C13A-00F0-FA98-125BACE229F9}"/>
              </a:ext>
            </a:extLst>
          </p:cNvPr>
          <p:cNvSpPr>
            <a:spLocks noGrp="1"/>
          </p:cNvSpPr>
          <p:nvPr>
            <p:ph idx="1"/>
          </p:nvPr>
        </p:nvSpPr>
        <p:spPr>
          <a:xfrm>
            <a:off x="838200" y="1245704"/>
            <a:ext cx="10515600" cy="4931259"/>
          </a:xfrm>
        </p:spPr>
        <p:txBody>
          <a:bodyPr>
            <a:normAutofit lnSpcReduction="10000"/>
          </a:bodyPr>
          <a:lstStyle/>
          <a:p>
            <a:r>
              <a:rPr lang="en-US" dirty="0"/>
              <a:t>(Jones et al., “</a:t>
            </a:r>
            <a:r>
              <a:rPr lang="en-US" dirty="0" err="1"/>
              <a:t>PanTHERIA</a:t>
            </a:r>
            <a:r>
              <a:rPr lang="en-US" dirty="0"/>
              <a:t>: a species-level database of life history, ecology, and geography of extant and recently extinct mammals) this work derives a </a:t>
            </a:r>
            <a:r>
              <a:rPr lang="en-US" dirty="0" err="1"/>
              <a:t>PanTHERIA</a:t>
            </a:r>
            <a:r>
              <a:rPr lang="en-US" dirty="0"/>
              <a:t>, species-level data set compiled for analysis of life history, ecology, and geography of all known extant and recently extinct mammals. </a:t>
            </a:r>
          </a:p>
          <a:p>
            <a:r>
              <a:rPr lang="en-US" dirty="0" err="1"/>
              <a:t>PanTHERIA</a:t>
            </a:r>
            <a:r>
              <a:rPr lang="en-US" dirty="0"/>
              <a:t> is derived from a database capable of holding multiple geo-referenced values for variables within a species containing 100740 lines of biological data for extant and recently extinct mammalian species, collected over a period of three years by 20 individuals. </a:t>
            </a:r>
          </a:p>
          <a:p>
            <a:r>
              <a:rPr lang="en-US" dirty="0" err="1"/>
              <a:t>PanTHERIA</a:t>
            </a:r>
            <a:r>
              <a:rPr lang="en-US" dirty="0"/>
              <a:t> also includes spatial databases of mammalian geographic ranges and global climatic and anthropogenic variables. </a:t>
            </a:r>
          </a:p>
        </p:txBody>
      </p:sp>
    </p:spTree>
    <p:extLst>
      <p:ext uri="{BB962C8B-B14F-4D97-AF65-F5344CB8AC3E}">
        <p14:creationId xmlns:p14="http://schemas.microsoft.com/office/powerpoint/2010/main" val="4001475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1F6F2-261D-491B-C5E0-10CA131C73B3}"/>
            </a:ext>
          </a:extLst>
        </p:cNvPr>
        <p:cNvGrpSpPr/>
        <p:nvPr/>
      </p:nvGrpSpPr>
      <p:grpSpPr>
        <a:xfrm>
          <a:off x="0" y="0"/>
          <a:ext cx="0" cy="0"/>
          <a:chOff x="0" y="0"/>
          <a:chExt cx="0" cy="0"/>
        </a:xfrm>
      </p:grpSpPr>
      <p:pic>
        <p:nvPicPr>
          <p:cNvPr id="7" name="Content Placeholder 6" descr="A close-up of a logo&#10;&#10;Description automatically generated">
            <a:extLst>
              <a:ext uri="{FF2B5EF4-FFF2-40B4-BE49-F238E27FC236}">
                <a16:creationId xmlns:a16="http://schemas.microsoft.com/office/drawing/2014/main" id="{FB351B36-1391-0EB0-72B5-BD501480AE12}"/>
              </a:ext>
            </a:extLst>
          </p:cNvPr>
          <p:cNvPicPr>
            <a:picLocks noGrp="1" noChangeAspect="1"/>
          </p:cNvPicPr>
          <p:nvPr>
            <p:ph idx="1"/>
          </p:nvPr>
        </p:nvPicPr>
        <p:blipFill>
          <a:blip r:embed="rId3"/>
          <a:stretch>
            <a:fillRect/>
          </a:stretch>
        </p:blipFill>
        <p:spPr>
          <a:xfrm>
            <a:off x="3966156" y="2674961"/>
            <a:ext cx="5137279" cy="1727994"/>
          </a:xfrm>
        </p:spPr>
      </p:pic>
    </p:spTree>
    <p:extLst>
      <p:ext uri="{BB962C8B-B14F-4D97-AF65-F5344CB8AC3E}">
        <p14:creationId xmlns:p14="http://schemas.microsoft.com/office/powerpoint/2010/main" val="151120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CS_Teaching_template" id="{CFCF3D33-A8D3-4A53-BDE7-E8F15A62020D}" vid="{66400989-E814-4413-8970-E1F17D40617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BE1CFB7B48E4C4EBE0F183093721927" ma:contentTypeVersion="14" ma:contentTypeDescription="Create a new document." ma:contentTypeScope="" ma:versionID="3835522acb197757f89a0baaf0a17347">
  <xsd:schema xmlns:xsd="http://www.w3.org/2001/XMLSchema" xmlns:xs="http://www.w3.org/2001/XMLSchema" xmlns:p="http://schemas.microsoft.com/office/2006/metadata/properties" xmlns:ns3="e3958ab0-593c-4210-a393-e6c3af803406" xmlns:ns4="30a827e8-8e18-4490-890c-b0f1a84cc16a" targetNamespace="http://schemas.microsoft.com/office/2006/metadata/properties" ma:root="true" ma:fieldsID="47f2fccef47dc125ce9626d18fc3d0cb" ns3:_="" ns4:_="">
    <xsd:import namespace="e3958ab0-593c-4210-a393-e6c3af803406"/>
    <xsd:import namespace="30a827e8-8e18-4490-890c-b0f1a84cc16a"/>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958ab0-593c-4210-a393-e6c3af8034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0a827e8-8e18-4490-890c-b0f1a84cc16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4423D1-D259-4F55-8D3A-D9E9EE2A2766}">
  <ds:schemaRefs>
    <ds:schemaRef ds:uri="http://schemas.microsoft.com/sharepoint/v3/contenttype/forms"/>
  </ds:schemaRefs>
</ds:datastoreItem>
</file>

<file path=customXml/itemProps2.xml><?xml version="1.0" encoding="utf-8"?>
<ds:datastoreItem xmlns:ds="http://schemas.openxmlformats.org/officeDocument/2006/customXml" ds:itemID="{E846BB09-3B0A-45E5-AD96-0D3311046476}">
  <ds:schemaRefs>
    <ds:schemaRef ds:uri="http://purl.org/dc/elements/1.1/"/>
    <ds:schemaRef ds:uri="http://purl.org/dc/dcmitype/"/>
    <ds:schemaRef ds:uri="30a827e8-8e18-4490-890c-b0f1a84cc16a"/>
    <ds:schemaRef ds:uri="http://schemas.microsoft.com/office/2006/metadata/properties"/>
    <ds:schemaRef ds:uri="http://schemas.microsoft.com/office/infopath/2007/PartnerControls"/>
    <ds:schemaRef ds:uri="http://schemas.microsoft.com/office/2006/documentManagement/types"/>
    <ds:schemaRef ds:uri="http://www.w3.org/XML/1998/namespace"/>
    <ds:schemaRef ds:uri="http://schemas.openxmlformats.org/package/2006/metadata/core-properties"/>
    <ds:schemaRef ds:uri="e3958ab0-593c-4210-a393-e6c3af803406"/>
    <ds:schemaRef ds:uri="http://purl.org/dc/terms/"/>
  </ds:schemaRefs>
</ds:datastoreItem>
</file>

<file path=customXml/itemProps3.xml><?xml version="1.0" encoding="utf-8"?>
<ds:datastoreItem xmlns:ds="http://schemas.openxmlformats.org/officeDocument/2006/customXml" ds:itemID="{5AD01080-5C0F-4278-B705-F48BAAD5BC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958ab0-593c-4210-a393-e6c3af803406"/>
    <ds:schemaRef ds:uri="30a827e8-8e18-4490-890c-b0f1a84cc16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SACS_Teaching_template</Template>
  <TotalTime>38534</TotalTime>
  <Words>894</Words>
  <Application>Microsoft Macintosh PowerPoint</Application>
  <PresentationFormat>Widescreen</PresentationFormat>
  <Paragraphs>31</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Species Distribution, BioDiveresity and AI/Machine Learning</vt:lpstr>
      <vt:lpstr>The relation between Species Distribution and Weather </vt:lpstr>
      <vt:lpstr>The relation between Species Distribution and Weather</vt:lpstr>
      <vt:lpstr>The relation between Species Distribution and Weather</vt:lpstr>
      <vt:lpstr>The relation between Species Distribution and Weather</vt:lpstr>
      <vt:lpstr>The relation between Species Distribution and Weather</vt:lpstr>
      <vt:lpstr>Machine Learning/AI for Biodiversity and Species Distribution </vt:lpstr>
      <vt:lpstr>Machine Learning/AI for Biodiversity and Species Distribution </vt:lpstr>
      <vt:lpstr>Machine Learning/AI for Biodiversity and Species Distribution </vt:lpstr>
      <vt:lpstr>PanTHERIA Dataset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Arial Bold for main headline, size according to title length, set flush left.</dc:title>
  <dc:creator>Gupta, Vibhuti</dc:creator>
  <cp:lastModifiedBy>Muallem, Asmah</cp:lastModifiedBy>
  <cp:revision>283</cp:revision>
  <dcterms:created xsi:type="dcterms:W3CDTF">2022-03-15T15:16:02Z</dcterms:created>
  <dcterms:modified xsi:type="dcterms:W3CDTF">2025-07-16T21:33:18Z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0x0101006BE1CFB7B48E4C4EBE0F183093721927</vt:lpwstr>
  </property>
</Properties>
</file>
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91" r:id="rId2"/>
    <p:sldId id="310" r:id="rId3"/>
    <p:sldId id="312" r:id="rId4"/>
    <p:sldId id="292" r:id="rId5"/>
    <p:sldId id="293" r:id="rId6"/>
    <p:sldId id="311" r:id="rId7"/>
    <p:sldId id="294" r:id="rId8"/>
    <p:sldId id="313" r:id="rId9"/>
    <p:sldId id="295" r:id="rId10"/>
    <p:sldId id="296" r:id="rId11"/>
    <p:sldId id="297" r:id="rId12"/>
    <p:sldId id="298" r:id="rId13"/>
    <p:sldId id="299" r:id="rId14"/>
    <p:sldId id="300" r:id="rId15"/>
    <p:sldId id="314" r:id="rId16"/>
    <p:sldId id="301" r:id="rId17"/>
    <p:sldId id="302" r:id="rId18"/>
    <p:sldId id="303" r:id="rId19"/>
    <p:sldId id="304" r:id="rId20"/>
    <p:sldId id="309" r:id="rId21"/>
    <p:sldId id="316" r:id="rId22"/>
    <p:sldId id="317" r:id="rId23"/>
    <p:sldId id="305" r:id="rId24"/>
    <p:sldId id="306" r:id="rId25"/>
    <p:sldId id="307" r:id="rId26"/>
    <p:sldId id="308" r:id="rId27"/>
    <p:sldId id="315" r:id="rId28"/>
    <p:sldId id="318" r:id="rId29"/>
    <p:sldId id="31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2A48"/>
    <a:srgbClr val="8B3151"/>
    <a:srgbClr val="8D2F5E"/>
    <a:srgbClr val="7D254D"/>
    <a:srgbClr val="69253A"/>
    <a:srgbClr val="612D31"/>
    <a:srgbClr val="4B2531"/>
    <a:srgbClr val="743A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6395" autoAdjust="0"/>
  </p:normalViewPr>
  <p:slideViewPr>
    <p:cSldViewPr snapToGrid="0">
      <p:cViewPr varScale="1">
        <p:scale>
          <a:sx n="88" d="100"/>
          <a:sy n="88" d="100"/>
        </p:scale>
        <p:origin x="39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852577-038D-4526-9331-A1CEE87F11B1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E37AFD-E331-4385-BBDA-2041ABDF1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020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ED67-33AA-4DCB-90BD-C150D5D6559B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D26D0-82D8-43DB-ABB6-76BDDC375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714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ED67-33AA-4DCB-90BD-C150D5D6559B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D26D0-82D8-43DB-ABB6-76BDDC375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03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ED67-33AA-4DCB-90BD-C150D5D6559B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D26D0-82D8-43DB-ABB6-76BDDC375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40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ED67-33AA-4DCB-90BD-C150D5D6559B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D26D0-82D8-43DB-ABB6-76BDDC375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88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ED67-33AA-4DCB-90BD-C150D5D6559B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D26D0-82D8-43DB-ABB6-76BDDC375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9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ED67-33AA-4DCB-90BD-C150D5D6559B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D26D0-82D8-43DB-ABB6-76BDDC375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723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ED67-33AA-4DCB-90BD-C150D5D6559B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D26D0-82D8-43DB-ABB6-76BDDC375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461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ED67-33AA-4DCB-90BD-C150D5D6559B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D26D0-82D8-43DB-ABB6-76BDDC375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13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ED67-33AA-4DCB-90BD-C150D5D6559B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D26D0-82D8-43DB-ABB6-76BDDC375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35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ED67-33AA-4DCB-90BD-C150D5D6559B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D26D0-82D8-43DB-ABB6-76BDDC375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339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ED67-33AA-4DCB-90BD-C150D5D6559B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D26D0-82D8-43DB-ABB6-76BDDC375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918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  <a:alpha val="83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BFED67-33AA-4DCB-90BD-C150D5D6559B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D26D0-82D8-43DB-ABB6-76BDDC3757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182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Introduction to Python &amp;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A Beginner’s Journey into Programming and Intelligent Systems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1</a:t>
            </a:fld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1" name="Picture 9" descr="Meharry Medical College Logo, medical college nashville tn, medical school nashville tn, dental school nashville tn, school of dentistry nashville tn, graduate studies nashville tn, health science nashville tn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871" y="5495278"/>
            <a:ext cx="3604510" cy="863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2970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165DE-5936-A227-5A6D-E7C76F271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75B2-BACF-C4CB-562E-166942DA9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876300"/>
            <a:ext cx="6181725" cy="68228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 smtClean="0">
                <a:solidFill>
                  <a:schemeClr val="bg1"/>
                </a:solidFill>
                <a:effectLst/>
              </a:rPr>
              <a:t>Overview</a:t>
            </a:r>
            <a:endParaRPr lang="en-US" sz="32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78940-D3FF-A5CF-B055-5D0365371A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1819275"/>
            <a:ext cx="6181725" cy="359871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What is Python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Installation Guidelines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i="0" dirty="0" smtClean="0">
                <a:solidFill>
                  <a:schemeClr val="bg1"/>
                </a:solidFill>
                <a:effectLst/>
                <a:latin typeface="Cambria" panose="02040503050406030204" pitchFamily="18" charset="0"/>
              </a:rPr>
              <a:t>Basic Concepts</a:t>
            </a:r>
            <a:endParaRPr lang="en-US" i="0" dirty="0">
              <a:solidFill>
                <a:schemeClr val="bg1"/>
              </a:solidFill>
              <a:effectLst/>
              <a:latin typeface="Cambria" panose="020405030504060302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</a:rPr>
              <a:t>Live examples</a:t>
            </a:r>
            <a:endParaRPr lang="en-US" dirty="0">
              <a:solidFill>
                <a:schemeClr val="bg1"/>
              </a:solidFill>
              <a:latin typeface="Cambria" panose="020405030504060302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i="0" dirty="0">
              <a:solidFill>
                <a:schemeClr val="bg1"/>
              </a:solidFill>
              <a:effectLst/>
              <a:latin typeface="Cambria" panose="02040503050406030204" pitchFamily="18" charset="0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i="0" dirty="0">
              <a:solidFill>
                <a:schemeClr val="bg1"/>
              </a:solidFill>
              <a:effectLst/>
              <a:latin typeface="Cambria" panose="02040503050406030204" pitchFamily="18" charset="0"/>
            </a:endParaRPr>
          </a:p>
        </p:txBody>
      </p:sp>
      <p:pic>
        <p:nvPicPr>
          <p:cNvPr id="3080" name="Picture 8" descr="Newcomers Guide To Cybersecurity With Python - Cyber Security and  Programm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614" y="1217440"/>
            <a:ext cx="4146798" cy="4146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7200901" y="5349607"/>
            <a:ext cx="458494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https://denizhalil.com/wp-content/uploads/2024/02/Cybersecurity-with-Python-A-Comprehensive-Roadmap-by-denizhalil.jpeg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2" name="Right Triangle 11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2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102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0FFF7-AFD3-3BC8-D1B2-B97002944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C2835-5F27-B944-D542-C08FE4030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" y="933450"/>
            <a:ext cx="5391150" cy="68228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effectLst/>
              </a:rPr>
              <a:t>What is Python </a:t>
            </a:r>
            <a:endParaRPr lang="en-US" sz="32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8F88F-7E17-FB57-6119-53869CB27D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50" y="1933574"/>
            <a:ext cx="5391150" cy="3484411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Python is a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</a:rPr>
              <a:t>high-level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, general-purpose programming </a:t>
            </a:r>
            <a:r>
              <a:rPr lang="en-US" dirty="0" smtClean="0">
                <a:solidFill>
                  <a:schemeClr val="bg1"/>
                </a:solidFill>
                <a:latin typeface="Cambria" panose="02040503050406030204" pitchFamily="18" charset="0"/>
              </a:rPr>
              <a:t>language used </a:t>
            </a: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in web development, data science, machine learning, automation, and more. Python is known for its readability, ease of learning, and the vast number of libraries and frameworks available for various tasks. </a:t>
            </a:r>
            <a:endParaRPr lang="en-US" i="0" dirty="0">
              <a:solidFill>
                <a:schemeClr val="bg1"/>
              </a:solidFill>
              <a:effectLst/>
              <a:latin typeface="Cambria" panose="02040503050406030204" pitchFamily="18" charset="0"/>
            </a:endParaRPr>
          </a:p>
        </p:txBody>
      </p:sp>
      <p:pic>
        <p:nvPicPr>
          <p:cNvPr id="4098" name="Picture 2" descr="python™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00" y="2368550"/>
            <a:ext cx="5524500" cy="1562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0" name="Right Triangle 9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3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6215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High-level, general-purpose language</a:t>
            </a:r>
          </a:p>
          <a:p>
            <a:r>
              <a:rPr>
                <a:solidFill>
                  <a:schemeClr val="bg1"/>
                </a:solidFill>
              </a:rPr>
              <a:t>Easy to learn and read</a:t>
            </a:r>
          </a:p>
          <a:p>
            <a:r>
              <a:rPr>
                <a:solidFill>
                  <a:schemeClr val="bg1"/>
                </a:solidFill>
              </a:rPr>
              <a:t>Used in many fields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4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4053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Installing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Download from python.org</a:t>
            </a:r>
          </a:p>
          <a:p>
            <a:r>
              <a:rPr>
                <a:solidFill>
                  <a:schemeClr val="bg1"/>
                </a:solidFill>
              </a:rPr>
              <a:t>Run the installer for your OS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5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308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E5417-70DC-B002-F16E-8072C82CF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F3BB4-6E5E-1FCD-7E5E-386B61F20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825" y="930447"/>
            <a:ext cx="7515226" cy="682281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effectLst/>
              </a:rPr>
              <a:t>Installation Guidelines </a:t>
            </a:r>
            <a:endParaRPr lang="en-US" sz="32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B659B4-47D0-1936-F29D-FA8B8CA591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4824" y="1962150"/>
            <a:ext cx="6968032" cy="3455835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</a:rPr>
              <a:t>To install Python, first download the appropriate installer from the official Python website. Then, run the installer and follow the on-screen instructions. During installation, consider adding Python to your system's PATH to easily access it from the command line. Finally, verify the installation by opening a command prompt and typing python -V</a:t>
            </a:r>
            <a:endParaRPr lang="en-US" i="0" dirty="0">
              <a:solidFill>
                <a:schemeClr val="bg1"/>
              </a:solidFill>
              <a:effectLst/>
              <a:latin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2429" y="1090613"/>
            <a:ext cx="3295650" cy="3295650"/>
          </a:xfrm>
          <a:prstGeom prst="rect">
            <a:avLst/>
          </a:prstGeom>
        </p:spPr>
      </p:pic>
      <p:pic>
        <p:nvPicPr>
          <p:cNvPr id="5122" name="Picture 2" descr="python™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35"/>
          <a:stretch/>
        </p:blipFill>
        <p:spPr bwMode="auto">
          <a:xfrm>
            <a:off x="7343300" y="4509122"/>
            <a:ext cx="3943350" cy="1274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Straight Arrow Connector 7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1" name="Right Triangle 10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6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22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Python Shell vs. Scripting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Shell: interactive</a:t>
            </a:r>
          </a:p>
          <a:p>
            <a:r>
              <a:rPr>
                <a:solidFill>
                  <a:schemeClr val="bg1"/>
                </a:solidFill>
              </a:rPr>
              <a:t>Script: saved .py files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7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6138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8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5719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Python IDEs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IDLE, VS Code, PyCharm, Jupyter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9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249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Data Types and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int, float, str, bool</a:t>
            </a:r>
          </a:p>
          <a:p>
            <a:r>
              <a:rPr>
                <a:solidFill>
                  <a:schemeClr val="bg1"/>
                </a:solidFill>
              </a:rPr>
              <a:t>Dynamic typing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10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493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Type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int(), float(), str(), bool()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11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4222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Variables and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Variables store data</a:t>
            </a:r>
          </a:p>
          <a:p>
            <a:r>
              <a:rPr>
                <a:solidFill>
                  <a:schemeClr val="bg1"/>
                </a:solidFill>
              </a:rPr>
              <a:t>Use '=' for assignment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12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738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Basic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Arithmetic, Comparison, Logical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13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3059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Control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/>
                </a:solidFill>
              </a:rPr>
              <a:t>if, </a:t>
            </a:r>
            <a:r>
              <a:rPr dirty="0" err="1">
                <a:solidFill>
                  <a:schemeClr val="bg1"/>
                </a:solidFill>
              </a:rPr>
              <a:t>elif</a:t>
            </a:r>
            <a:r>
              <a:rPr dirty="0">
                <a:solidFill>
                  <a:schemeClr val="bg1"/>
                </a:solidFill>
              </a:rPr>
              <a:t>, else</a:t>
            </a:r>
          </a:p>
          <a:p>
            <a:r>
              <a:rPr dirty="0">
                <a:solidFill>
                  <a:schemeClr val="bg1"/>
                </a:solidFill>
              </a:rPr>
              <a:t>for, while</a:t>
            </a:r>
          </a:p>
          <a:p>
            <a:r>
              <a:rPr dirty="0">
                <a:solidFill>
                  <a:schemeClr val="bg1"/>
                </a:solidFill>
              </a:rPr>
              <a:t>break, continue, pass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14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346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15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960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Basic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Lists, Tuples, Sets, Dicts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16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4448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Define with def</a:t>
            </a:r>
          </a:p>
          <a:p>
            <a:r>
              <a:rPr>
                <a:solidFill>
                  <a:schemeClr val="bg1"/>
                </a:solidFill>
              </a:rPr>
              <a:t>Use return</a:t>
            </a:r>
          </a:p>
          <a:p>
            <a:r>
              <a:rPr>
                <a:solidFill>
                  <a:schemeClr val="bg1"/>
                </a:solidFill>
              </a:rPr>
              <a:t>Scopes: local/global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17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82921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Modules and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import statements</a:t>
            </a:r>
          </a:p>
          <a:p>
            <a:r>
              <a:rPr>
                <a:solidFill>
                  <a:schemeClr val="bg1"/>
                </a:solidFill>
              </a:rPr>
              <a:t>Third-party and standard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18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629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Exploring the Standard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Includes os, sys, datetime, etc.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19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2577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Break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221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Challenge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21</a:t>
            </a:fld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445" y="1678788"/>
            <a:ext cx="4286250" cy="428625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20040" y="2488851"/>
            <a:ext cx="6423575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https://lotaylor23.github.io/MS-CC_2025/index.html</a:t>
            </a:r>
          </a:p>
        </p:txBody>
      </p:sp>
    </p:spTree>
    <p:extLst>
      <p:ext uri="{BB962C8B-B14F-4D97-AF65-F5344CB8AC3E}">
        <p14:creationId xmlns:p14="http://schemas.microsoft.com/office/powerpoint/2010/main" val="3349858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End of Day 1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22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48822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What is AI?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Simulates human thinking</a:t>
            </a:r>
          </a:p>
          <a:p>
            <a:r>
              <a:rPr>
                <a:solidFill>
                  <a:schemeClr val="bg1"/>
                </a:solidFill>
              </a:rPr>
              <a:t>Learns from data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23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3214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AI vs. Traditional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Traditional: rules</a:t>
            </a:r>
          </a:p>
          <a:p>
            <a:r>
              <a:rPr>
                <a:solidFill>
                  <a:schemeClr val="bg1"/>
                </a:solidFill>
              </a:rPr>
              <a:t>AI: learns patterns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24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4793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AI vs.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Automation: fixed rules</a:t>
            </a:r>
          </a:p>
          <a:p>
            <a:r>
              <a:rPr>
                <a:solidFill>
                  <a:schemeClr val="bg1"/>
                </a:solidFill>
              </a:rPr>
              <a:t>AI: adaptive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25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7457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Steps for Building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solidFill>
                  <a:schemeClr val="bg1"/>
                </a:solidFill>
              </a:rPr>
              <a:t>1. Define the problem</a:t>
            </a:r>
          </a:p>
          <a:p>
            <a:r>
              <a:rPr>
                <a:solidFill>
                  <a:schemeClr val="bg1"/>
                </a:solidFill>
              </a:rPr>
              <a:t>2. Collect data</a:t>
            </a:r>
          </a:p>
          <a:p>
            <a:r>
              <a:rPr>
                <a:solidFill>
                  <a:schemeClr val="bg1"/>
                </a:solidFill>
              </a:rPr>
              <a:t>3. Choose tools</a:t>
            </a:r>
          </a:p>
          <a:p>
            <a:r>
              <a:rPr>
                <a:solidFill>
                  <a:schemeClr val="bg1"/>
                </a:solidFill>
              </a:rPr>
              <a:t>4. Select algorithm</a:t>
            </a:r>
          </a:p>
          <a:p>
            <a:r>
              <a:rPr>
                <a:solidFill>
                  <a:schemeClr val="bg1"/>
                </a:solidFill>
              </a:rPr>
              <a:t>5. Train model</a:t>
            </a:r>
          </a:p>
          <a:p>
            <a:r>
              <a:rPr>
                <a:solidFill>
                  <a:schemeClr val="bg1"/>
                </a:solidFill>
              </a:rPr>
              <a:t>6. Evaluate results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26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41571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Example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27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8526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Discussion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28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60356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End of Day 2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6400801"/>
            <a:ext cx="1219195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989" y="5965038"/>
            <a:ext cx="892963" cy="89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11439525" y="0"/>
            <a:ext cx="23812" cy="5276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11591925" y="152400"/>
            <a:ext cx="13335" cy="54768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11733848" y="304800"/>
            <a:ext cx="10477" cy="5536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Right Triangle 8"/>
          <p:cNvSpPr/>
          <p:nvPr/>
        </p:nvSpPr>
        <p:spPr>
          <a:xfrm rot="5400000">
            <a:off x="-143013" y="143015"/>
            <a:ext cx="1362351" cy="1076324"/>
          </a:xfrm>
          <a:prstGeom prst="rtTriangle">
            <a:avLst/>
          </a:prstGeom>
          <a:solidFill>
            <a:srgbClr val="7E2A48"/>
          </a:solidFill>
          <a:ln w="508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Slide Number Placeholder 15"/>
          <p:cNvSpPr>
            <a:spLocks noGrp="1"/>
          </p:cNvSpPr>
          <p:nvPr>
            <p:ph type="sldNum" sz="quarter" idx="12"/>
          </p:nvPr>
        </p:nvSpPr>
        <p:spPr>
          <a:xfrm>
            <a:off x="88106" y="177006"/>
            <a:ext cx="457200" cy="376238"/>
          </a:xfrm>
        </p:spPr>
        <p:txBody>
          <a:bodyPr/>
          <a:lstStyle/>
          <a:p>
            <a:fld id="{A0DD26D0-82D8-43DB-ABB6-76BDDC37578D}" type="slidenum">
              <a:rPr lang="en-US" sz="1600" smtClean="0">
                <a:solidFill>
                  <a:schemeClr val="bg1"/>
                </a:solidFill>
              </a:rPr>
              <a:t>29</a:t>
            </a:fld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39509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13176</TotalTime>
  <Words>393</Words>
  <Application>Microsoft Office PowerPoint</Application>
  <PresentationFormat>Widescreen</PresentationFormat>
  <Paragraphs>102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Cambria</vt:lpstr>
      <vt:lpstr>Office Theme</vt:lpstr>
      <vt:lpstr>Introduction to Python &amp; AI</vt:lpstr>
      <vt:lpstr>Overview</vt:lpstr>
      <vt:lpstr>What is Python </vt:lpstr>
      <vt:lpstr>What is Python?</vt:lpstr>
      <vt:lpstr>Installing Python</vt:lpstr>
      <vt:lpstr>Installation Guidelines </vt:lpstr>
      <vt:lpstr>Python Shell vs. Scripting</vt:lpstr>
      <vt:lpstr>Example</vt:lpstr>
      <vt:lpstr>Python IDEs</vt:lpstr>
      <vt:lpstr>Data Types and Variables</vt:lpstr>
      <vt:lpstr>Type Conversion</vt:lpstr>
      <vt:lpstr>Variables and Assignment</vt:lpstr>
      <vt:lpstr>Basic Operators</vt:lpstr>
      <vt:lpstr>Control Structures</vt:lpstr>
      <vt:lpstr>Example</vt:lpstr>
      <vt:lpstr>Basic Data Structures</vt:lpstr>
      <vt:lpstr>Functions</vt:lpstr>
      <vt:lpstr>Modules and Packages</vt:lpstr>
      <vt:lpstr>Exploring the Standard Library</vt:lpstr>
      <vt:lpstr>Break</vt:lpstr>
      <vt:lpstr>Challenge</vt:lpstr>
      <vt:lpstr>End of Day 1</vt:lpstr>
      <vt:lpstr>What is AI?</vt:lpstr>
      <vt:lpstr>AI vs. Traditional Programming</vt:lpstr>
      <vt:lpstr>AI vs. Automation</vt:lpstr>
      <vt:lpstr>Steps for Building AI</vt:lpstr>
      <vt:lpstr>Example</vt:lpstr>
      <vt:lpstr>Discussion</vt:lpstr>
      <vt:lpstr>End of Day 2</vt:lpstr>
    </vt:vector>
  </TitlesOfParts>
  <Company>Alief ISD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Title: On Agentic-AI For Multi-Omics Integration</dc:title>
  <dc:creator>Taylor, Loni S</dc:creator>
  <cp:lastModifiedBy>Taylor, Loni S</cp:lastModifiedBy>
  <cp:revision>106</cp:revision>
  <dcterms:created xsi:type="dcterms:W3CDTF">2025-02-18T14:00:56Z</dcterms:created>
  <dcterms:modified xsi:type="dcterms:W3CDTF">2025-06-10T02:30:35Z</dcterms:modified>
</cp:coreProperties>
</file>